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без учителя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Кластеризация, снижение размерности и разбор MNIST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День 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обучение без учителя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если меток нет?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55448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разобрали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 учителем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правильная метка известна из размеченных исторических данных.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57312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573122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что делать, когда меток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заранее правильного ответа не существует?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без учителя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обучению без учителя относят: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4128" y="2136953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35024" y="2136953"/>
            <a:ext cx="718718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 (clustering)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группировка похожих точек.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4128" y="270662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35024" y="2706624"/>
            <a:ext cx="718718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аномалий (anomaly detection)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обнаружение выбросов.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4128" y="3276295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35024" y="3276295"/>
            <a:ext cx="71871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 (dimensionality reduction)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уменьшение числа признаков.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Кластеризация (clustering)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неразмеченных точек в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кластеры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2623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26234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Точку относят к кластеру по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схожести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остальными точками группы.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классов алгоритму не известны, он находит структуру сам.</a:t>
            </a:r>
            <a:endParaRPr lang="en-US" sz="2100" dirty="0"/>
          </a:p>
        </p:txBody>
      </p:sp>
      <p:pic>
        <p:nvPicPr>
          <p:cNvPr id="9" name="Image 0" descr="f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02014"/>
            <a:ext cx="4114800" cy="3031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аномалий (anomaly detection)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55448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найти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выбросы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точки, не похожие на основную массу данных.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55483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55483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</a:t>
            </a:r>
            <a:pPr indent="0" marL="0">
              <a:lnSpc>
                <a:spcPts val="2478"/>
              </a:lnSpc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мошеннические транзакции по карте среди тысяч обычных покупок.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Снижение размерности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 (dimensionality reduction)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методы, которые уменьшают число признаков.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41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35024" y="2463394"/>
            <a:ext cx="718718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сжать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данные, ускорить обучение, отфильтровать шум.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4128" y="3033065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35024" y="3033065"/>
            <a:ext cx="71871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зачем ещё: </a:t>
            </a:r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внутренние закономерности и увидеть данные глазами.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качества тоньше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исторических данных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верного ответа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не с чем сравнивать прогноз.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оценка качества заметно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 и тоньше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чем у обучения с учителем.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(инерция, силуэт, объяснённая дисперсия) косвенные, их нужно читать с пониманием.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обучения без учителя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0"/>
            <a:ext cx="142280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25726" y="201168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81758" y="20116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1758" y="2011680"/>
            <a:ext cx="142280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04565" y="201168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860597" y="20116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0597" y="2011680"/>
            <a:ext cx="142280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83403" y="201168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539435" y="20116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9435" y="2011680"/>
            <a:ext cx="142280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(transformation)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62242" y="201168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18274" y="20116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8274" y="2011680"/>
            <a:ext cx="142280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нет отдельного отложенного теста: верных меток у исторических данных нет.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Кластеризация: метод K-средних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кластеризация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данные на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группы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так, чтобы внутри группы точки были похожи между собой.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979115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979115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разные группы заметно отличались друг от друга.</a:t>
            </a:r>
            <a:endParaRPr lang="en-US" sz="2100" dirty="0"/>
          </a:p>
        </p:txBody>
      </p:sp>
      <p:pic>
        <p:nvPicPr>
          <p:cNvPr id="7" name="Image 0" descr="f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02014"/>
            <a:ext cx="4114800" cy="30310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применяют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55448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клиентов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поведению и признакам.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173529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173529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документов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схожести содержания.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79257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2792578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Рыночная сегментация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поиск целевых групп.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41162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3411626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Выделение похожих физических групп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данных.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K-средних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7160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число кластеров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1954073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1954073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 отнести каждую точку к одному из кластеров.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53654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2536546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Повторять, пока кластеры не перестанут меняться: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4128" y="310073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35024" y="3100730"/>
            <a:ext cx="718718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пересчитать </a:t>
            </a:r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центроид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кластера как средний вектор его точек;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" y="361553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35024" y="3615538"/>
            <a:ext cx="718718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отнести каждую точку к кластеру с </a:t>
            </a:r>
            <a:pPr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ближайшим</a:t>
            </a:r>
            <a:pPr indent="0" marL="0">
              <a:lnSpc>
                <a:spcPts val="2242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центроидом.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выглядит</a:t>
            </a:r>
            <a:endParaRPr lang="en-US" sz="3000" dirty="0"/>
          </a:p>
        </p:txBody>
      </p:sp>
      <p:pic>
        <p:nvPicPr>
          <p:cNvPr id="3" name="Image 0" descr="f_kmeans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4313"/>
            <a:ext cx="7863840" cy="24406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старт, одна итерация, сходимость. Центроиды (×) сдвигаются к центрам групп.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Центроид и инерция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Центроид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средний вектор всех точек кластера, его «центр тяжести».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 (SSE)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сумма квадратов расстояний от точек до их центроида.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на каждом шаге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уменьшает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инерцию, пока та не стабилизируется.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кластеров 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Простого ответа на «лучшее»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нет.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2623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26234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способов,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локтя (elbow)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считаем инерцию (SSE) для разных 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K, после которого инерция перестаёт быстро падать.</a:t>
            </a:r>
            <a:endParaRPr lang="en-US" sz="2100" dirty="0"/>
          </a:p>
        </p:txBody>
      </p:sp>
      <p:pic>
        <p:nvPicPr>
          <p:cNvPr id="9" name="Image 0" descr="f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17527"/>
            <a:ext cx="4114800" cy="27999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локтя на практике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ростом K инерция всегда падает: кластеры мельче, расстояния короче.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65267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652674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точке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падение резко замедляется, это и есть «локоть».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979469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979469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данные действительно из 4 групп.</a:t>
            </a:r>
            <a:endParaRPr lang="en-US" sz="2100" dirty="0"/>
          </a:p>
        </p:txBody>
      </p:sp>
      <p:pic>
        <p:nvPicPr>
          <p:cNvPr id="9" name="Image 0" descr="f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17527"/>
            <a:ext cx="4114800" cy="27999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Силуэт (silhouette)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способ выбрать K,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2623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26234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измеряет, насколько точка ближе к своему кластеру, чем к соседнему.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K с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максимумом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силуэта, здесь снова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pic>
        <p:nvPicPr>
          <p:cNvPr id="9" name="Image 0" descr="f_silho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19711"/>
            <a:ext cx="4114800" cy="27956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Подводные камни K-средних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1732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Чувствителен к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начальной инициализации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помогает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6281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6281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задаём заранее, алгоритм его не подбирает.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98185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2981858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Предполагает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округлые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кластеры примерно одного размера.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60090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360090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нужно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масштабировать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иначе крупная шкала «перетянет» расстояние.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K-средних: код (sklearn)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2011680"/>
          </a:xfrm>
          <a:prstGeom prst="roundRect">
            <a:avLst>
              <a:gd name="adj" fmla="val 181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81912"/>
            <a:ext cx="75895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KMeans(n_clusters=4, n_init=10, random_state=42)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km.fit_predict(X)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centers = km.cluster_centers_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 запускает алгоритм несколько раз и берёт лучший результат по инерции.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Снижение размерности</a:t>
            </a:r>
            <a:endParaRPr lang="en-US" sz="4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Проклятие размерности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признаков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замедляют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обучение.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2623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26234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многомерном пространстве точки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друг от друга.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32658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326587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расстояние растёт: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2D,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1000D.</a:t>
            </a:r>
            <a:endParaRPr lang="en-US" sz="2100" dirty="0"/>
          </a:p>
        </p:txBody>
      </p:sp>
      <p:pic>
        <p:nvPicPr>
          <p:cNvPr id="9" name="Image 0" descr="f_c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95277"/>
            <a:ext cx="4114800" cy="27987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 о многообразии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1732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о многообразии (manifold)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реальные данные лежат близко к поверхности гораздо меньшей размерности.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1767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1767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изображений MNIST края почти всегда белые, соседние пиксели связаны.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1802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1802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784 признака на деле описываются куда меньшим числом «осей».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проекции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Спроецировать данные на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подпространство меньшей размерности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сохранив структуру.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проекция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теряет мало информации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оставляет главное.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популярный способ это сделать,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главных компонент (PCA)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главных компонент (PCA)</a:t>
            </a:r>
            <a:endParaRPr lang="en-US" sz="4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Интуиция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 ищет одну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линию наилучшего соответствия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данным.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ищет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ортогональных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линий, оси наибольшей вариации.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ортогональные, перпендикулярные друг другу в пространстве признаков.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Главные компоненты</a:t>
            </a:r>
            <a:endParaRPr lang="en-US" sz="3000" dirty="0"/>
          </a:p>
        </p:txBody>
      </p:sp>
      <p:pic>
        <p:nvPicPr>
          <p:cNvPr id="3" name="Image 0" descr="f_pca_a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364" y="1371600"/>
            <a:ext cx="7163271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идёт вдоль наибольшей дисперсии, PC2 перпендикулярна ей. Проекция на PC1 сжимает данные до одной оси.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Свойства компонент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1732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забирает наибольшую дисперсию,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забирает наибольшую из оставшейся, и так далее.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9938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99386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ортогональны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значит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коррелируют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между собой.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381451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381451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Оставив первые несколько компонент, мы понижаем размерность, сохраняя максимум дисперсии.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Коэффициент объяснённой дисперсии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explained_variance_ratio_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доля дисперсии на каждой компоненте.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65267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652674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примере слева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дисперсии на PC1 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PC2.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по компонентам показывает, сколько информации мы сохранили.</a:t>
            </a:r>
            <a:endParaRPr lang="en-US" sz="2100" dirty="0"/>
          </a:p>
        </p:txBody>
      </p:sp>
      <p:pic>
        <p:nvPicPr>
          <p:cNvPr id="9" name="Image 0" descr="f_pca_a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846655"/>
            <a:ext cx="4069080" cy="16102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компонент брать?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берут столько, чтобы сохранить нужную долю дисперсии, например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смотреть на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изгиб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кривой накопленной дисперсии, как в методе локтя.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понижают до 2 или 3 измерений.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PCA: код (sklearn)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2322576"/>
          </a:xfrm>
          <a:prstGeom prst="roundRect">
            <a:avLst>
              <a:gd name="adj" fmla="val 157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81912"/>
            <a:ext cx="75895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StandardScaler().fit_transform(X)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PCA(n_components=0.95)        # сохранить 95% дисперсии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X_reduced = pca.fit_transform(X_scaled)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96849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 как доля (0.95) сам подбирает число компонент под нужную дисперсию.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Стандартизация перед PCA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опирается на дисперсию, поэтому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чувствителен к масштабу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признаков.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с большими числами «перетянет» компоненты на себя.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данные обычно сначала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стандартизируют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(StandardScaler).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MNIST</a:t>
            </a:r>
            <a:endParaRPr lang="en-US" sz="4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Набор данных MNIST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70 000 изображений рукописных цифр.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0794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07946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изображение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пикселей, то есть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признака.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1645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16452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Метка: цифра от 0 до 9. Классический «Hello World» машинного обучения.</a:t>
            </a:r>
            <a:endParaRPr lang="en-US" sz="2100" dirty="0"/>
          </a:p>
        </p:txBody>
      </p:sp>
      <p:pic>
        <p:nvPicPr>
          <p:cNvPr id="9" name="Image 0" descr="f_mnist_dig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121131"/>
            <a:ext cx="4114800" cy="17013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задача классификации (глава 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784 пикселям нужно предсказать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цифру от 0 до 9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118665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118665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делят: первые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обучение, последние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тест.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10073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10073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 очень много, и тут на помощь приходит снижение размерности.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PCA здесь помогает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Пиксели на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краях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почти всегда белые, их дисперсия близка к нулю.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61609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61609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784 пикселей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почти постоянны и ничего не различают.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90631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906317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пиксели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связаны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данные лежат близко к многообразию.</a:t>
            </a:r>
            <a:endParaRPr lang="en-US" sz="2100" dirty="0"/>
          </a:p>
        </p:txBody>
      </p:sp>
      <p:pic>
        <p:nvPicPr>
          <p:cNvPr id="9" name="Image 0" descr="f_mnist_pixel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2646" y="1371600"/>
            <a:ext cx="361070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Сжатие MNIST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Сохраняем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дисперсии, и хватает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компонент вместо 784.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65267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652674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меньше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исходного размера данных.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часть информации цела, а данных стало в пять раз меньше.</a:t>
            </a:r>
            <a:endParaRPr lang="en-US" sz="2100" dirty="0"/>
          </a:p>
        </p:txBody>
      </p:sp>
      <p:pic>
        <p:nvPicPr>
          <p:cNvPr id="9" name="Image 0" descr="f_mnist_ev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17803"/>
            <a:ext cx="4114800" cy="27079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Сжатие и восстановление</a:t>
            </a:r>
            <a:endParaRPr lang="en-US" sz="3000" dirty="0"/>
          </a:p>
        </p:txBody>
      </p:sp>
      <p:pic>
        <p:nvPicPr>
          <p:cNvPr id="3" name="Image 0" descr="f_mnist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57323"/>
            <a:ext cx="8046720" cy="1771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исходные цифры, снизу восстановленные из 154 компонент. Качество чуть ниже, но цифры узнаваемы.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 для классификации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признаков,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обучается классификатор.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118665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118665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отфильтровывает часть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шума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лишних деталей.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77429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277429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здесь это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предобработки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перед моделью (SVM, случайный лес и т.п.).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Визуализация: 2D PCA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Проецируем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→ 2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чтобы увидеть структуру глазами.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2623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26234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цифр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проступают, но сильно перекрываются.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компоненты держат лишь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дисперсии, для разделения этого мало.</a:t>
            </a:r>
            <a:endParaRPr lang="en-US" sz="2100" dirty="0"/>
          </a:p>
        </p:txBody>
      </p:sp>
      <p:pic>
        <p:nvPicPr>
          <p:cNvPr id="9" name="Image 0" descr="f_mnist_pca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360231"/>
            <a:ext cx="4069080" cy="331457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Визуализация: t-SNE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325880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нелинейный метод, цифры собираются в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кластеры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65267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652674"/>
            <a:ext cx="37581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 контраст с линейным PCA на том же наборе.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65302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653028"/>
            <a:ext cx="3758184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t-SNE применяют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визуализации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как предобработку.</a:t>
            </a:r>
            <a:endParaRPr lang="en-US" sz="2100" dirty="0"/>
          </a:p>
        </p:txBody>
      </p:sp>
      <p:pic>
        <p:nvPicPr>
          <p:cNvPr id="9" name="Image 0" descr="f_mnist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332011"/>
            <a:ext cx="4069080" cy="337101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Сводим вместе</a:t>
            </a:r>
            <a:endParaRPr lang="en-US" sz="4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Другие методы снижения размерности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1732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PCA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PCA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для больших наборов и скорости.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6281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6281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PCA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нелинейные проекции через ядерный трюк.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98185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2981858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Isomap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обучение на основе многообразий.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92734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3927348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использует метки, разводит классы перед классификацией.</a:t>
            </a:r>
            <a:endParaRPr lang="en-US" sz="2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Типичный пайплайн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0"/>
            <a:ext cx="254203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4952" y="201168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00984" y="201168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0984" y="2011680"/>
            <a:ext cx="254203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(снижение)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43016" y="201168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099048" y="201168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9048" y="2011680"/>
            <a:ext cx="254203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классификация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готовим признаки, затем снижаем размерность, и только потом обучаем модель.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K-средних и PCA вместе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6304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снизить размерность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через PCA, затем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кластеризовать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46339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463394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меньше шума и можно увидеть результат на плоскости.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463747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463747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 и кластеризация хорошо работают в связке.</a:t>
            </a:r>
            <a:endParaRPr lang="en-US" sz="2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освоили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1732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без учителя: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6281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62810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K-средних,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инерция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выбор K через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локоть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298185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2981858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объяснённая дисперсия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сжатие MNIST до 154 компонент.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92734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3927348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 для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ускорения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для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Главные мысли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" y="1417320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меток оценка качества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тоньше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метрики читаем с пониманием.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238109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7824" y="2381098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PCA и K-средних признаки почти всегда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344875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7824" y="3344875"/>
            <a:ext cx="76443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меняет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информации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ускорение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98221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3982212"/>
            <a:ext cx="7644384" cy="7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проверяйте, </a:t>
            </a:r>
            <a:pPr indent="0" marL="0">
              <a:lnSpc>
                <a:spcPts val="2478"/>
              </a:lnSpc>
              <a:buNone/>
            </a:pPr>
            <a:r>
              <a:rPr lang="en-US" sz="2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дисперсии</a:t>
            </a:r>
            <a:pPr indent="0" marL="0">
              <a:lnSpc>
                <a:spcPts val="2478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 реально сохранили.</a:t>
            </a:r>
            <a:endParaRPr lang="en-US" sz="2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практикум: K-средних и PCA на наборах данных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День 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2026-06-24T03:28:16Z</dcterms:created>
  <dcterms:modified xsi:type="dcterms:W3CDTF">2026-06-24T03:28:16Z</dcterms:modified>
</cp:coreProperties>
</file>