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11"/>
  </p:normalViewPr>
  <p:slideViewPr>
    <p:cSldViewPr snapToGrid="0" snapToObjects="1">
      <p:cViewPr varScale="1">
        <p:scale>
          <a:sx n="116" d="100"/>
          <a:sy n="116" d="100"/>
        </p:scale>
        <p:origin x="60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4031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Здравствуйте. Моя задача — классификация стадий сна по данным полисомнографии: по 21 показателю датчиков (энцефалограмма, мышечный тонус, движения глаз, пульс, дыхание, сатурация) нужно определить одну из четырёх стадий сна для каждой 30-секундной эпохи. Метрика — macro-F1, все четыре стадии важны одинаково.</a:t>
            </a:r>
          </a:p>
          <a:p>
            <a:endParaRPr/>
          </a:p>
          <a:p>
            <a:r>
              <a:t>Мой финальный результат — macro-F1 0.85653, топ лидерборда, борьба за первое место. Сразу оговорка: данные синтетические, границы между стадиями размыты — даже опытные сомнологи расходятся, идеальная точность недостижима. Поэтому каждая тысячная — это осмысленная работа с данными, а не перебор моделей. Покажу, что поднимало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Признаки уже стандартизованы, применила StandardScaler — для SVM критично. Валидация честная: 5-фолдовая стратифицированная CV, всё фитится в фолде, без утечек. Главное открытие — eog_burst_index пропущен у половины строк.</a:t>
            </a:r>
          </a:p>
          <a:p>
            <a:endParaRPr/>
          </a:p>
          <a:p>
            <a:r>
              <a:t>От baseline. Логрегрессия — 0.744. Первый рычаг — модель: перебрала деревья, лес, KNN, Байес, бустинги; победил SVM с RBF — 0.835 CV / 0.846 LB. Задача гладкая, нелинейная, но плавная — территория SVM.</a:t>
            </a:r>
          </a:p>
          <a:p>
            <a:endParaRPr/>
          </a:p>
          <a:p>
            <a:r>
              <a:t>Второй и главный рычаг — пропуски. eog, когда есть, даёт почти +0.04, но у половины строк его нет. Он на 87% предсказуем по другим признакам (Ridge R²=0.87) — заменила медиану на модельную Ridge-импутацию: +0.008 CV, LB до 0.853.</a:t>
            </a:r>
          </a:p>
          <a:p>
            <a:endParaRPr/>
          </a:p>
          <a:p>
            <a:r>
              <a:t>Третий рычаг — обобщение. На чистых данных каждый добавленный бустинг поднимал CV, но опускал LB. Значит SVM переносится на тест лучше деревьев — убрала бустинги, чистый SVM дал 0.857.</a:t>
            </a:r>
          </a:p>
          <a:p>
            <a:endParaRPr/>
          </a:p>
          <a:p>
            <a:r>
              <a:t>Строгость: стэкинг, пороги, сплит, псевдо-метки отбросила, потому что на held-out они переобучались.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Три вывода. Первый: решает не модель, а данные — главный прирост дала диагностика пропущенного признака. Второй: CV и лидерборд расходятся, важнее как модель обобщается — гладкий SVM лучше деревьев на тесте. Третий: доверять честной валидации, а не публичному скору — решает private.</a:t>
            </a:r>
          </a:p>
          <a:p>
            <a:endParaRPr/>
          </a:p>
          <a:p>
            <a:r>
              <a:t>Дальше: признаки под Deep, residual-eog и точнее импутация, калиброванный ансамбль с проверкой на сдвиг распределения. Спасибо, готова к вопросам.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40080"/>
            <a:ext cx="10058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>
                <a:solidFill>
                  <a:srgbClr val="6C8AE4"/>
                </a:solidFill>
                <a:latin typeface="Calibri"/>
              </a:rPr>
              <a:t>YDL 2026 · НЕДЕЛЯ 2 (ФИНАЛ)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Классификация стадий сна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A9B2D0"/>
                </a:solidFill>
                <a:latin typeface="Calibri"/>
              </a:rPr>
              <a:t>Многоклассовая задача по данным полисомнографии · метрика macro-F1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880360"/>
            <a:ext cx="5120640" cy="2743200"/>
          </a:xfrm>
          <a:prstGeom prst="roundRect">
            <a:avLst>
              <a:gd name="adj" fmla="val 6000"/>
            </a:avLst>
          </a:prstGeom>
          <a:solidFill>
            <a:srgbClr val="212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3200400"/>
            <a:ext cx="44805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200" b="1" i="0">
                <a:solidFill>
                  <a:srgbClr val="FFC857"/>
                </a:solidFill>
                <a:latin typeface="Cambria"/>
              </a:rPr>
              <a:t>0.85653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4218868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FFFFFF"/>
                </a:solidFill>
                <a:latin typeface="Calibri"/>
              </a:rPr>
              <a:t>лучший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macro-F1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4721788"/>
            <a:ext cx="4480560" cy="500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sz="1500" b="1" i="0" dirty="0">
                <a:solidFill>
                  <a:srgbClr val="4ECDC4"/>
                </a:solidFill>
                <a:latin typeface="Calibri"/>
              </a:rPr>
              <a:t>Public </a:t>
            </a:r>
            <a:r>
              <a:rPr sz="1500" b="1" i="0" dirty="0">
                <a:solidFill>
                  <a:srgbClr val="4ECDC4"/>
                </a:solidFill>
                <a:latin typeface="Calibri"/>
              </a:rPr>
              <a:t>топ-2</a:t>
            </a:r>
            <a:r>
              <a:rPr lang="en-US" sz="1500" b="1" i="0" dirty="0">
                <a:solidFill>
                  <a:srgbClr val="4ECDC4"/>
                </a:solidFill>
                <a:latin typeface="Calibri"/>
              </a:rPr>
              <a:t> – 0.85653</a:t>
            </a:r>
          </a:p>
          <a:p>
            <a:pPr algn="l">
              <a:spcAft>
                <a:spcPts val="300"/>
              </a:spcAft>
            </a:pPr>
            <a:r>
              <a:rPr lang="en-US" sz="1500" b="1" i="0" dirty="0">
                <a:solidFill>
                  <a:srgbClr val="4ECDC4"/>
                </a:solidFill>
                <a:latin typeface="Calibri"/>
              </a:rPr>
              <a:t>Private </a:t>
            </a:r>
            <a:r>
              <a:rPr lang="ru-RU" sz="1500" b="1" i="0" dirty="0">
                <a:solidFill>
                  <a:srgbClr val="4ECDC4"/>
                </a:solidFill>
                <a:latin typeface="Calibri"/>
              </a:rPr>
              <a:t>топ-</a:t>
            </a:r>
            <a:r>
              <a:rPr lang="en-US" sz="1500" b="1" i="0" dirty="0">
                <a:solidFill>
                  <a:srgbClr val="4ECDC4"/>
                </a:solidFill>
                <a:latin typeface="Calibri"/>
              </a:rPr>
              <a:t>3 - 0.84884</a:t>
            </a:r>
            <a:endParaRPr sz="1500" b="1" i="0" dirty="0">
              <a:solidFill>
                <a:srgbClr val="4ECDC4"/>
              </a:solidFill>
              <a:latin typeface="Calibri"/>
            </a:endParaRPr>
          </a:p>
        </p:txBody>
      </p:sp>
      <p:sp>
        <p:nvSpPr>
          <p:cNvPr id="8" name="Oval 7"/>
          <p:cNvSpPr/>
          <p:nvPr/>
        </p:nvSpPr>
        <p:spPr>
          <a:xfrm>
            <a:off x="6446520" y="2971800"/>
            <a:ext cx="146304" cy="146304"/>
          </a:xfrm>
          <a:prstGeom prst="ellipse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57416" y="2871216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9000 / 5000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57416" y="3310128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A9B2D0"/>
                </a:solidFill>
                <a:latin typeface="Calibri"/>
              </a:rPr>
              <a:t>строк — train / test</a:t>
            </a:r>
          </a:p>
        </p:txBody>
      </p:sp>
      <p:sp>
        <p:nvSpPr>
          <p:cNvPr id="11" name="Oval 10"/>
          <p:cNvSpPr/>
          <p:nvPr/>
        </p:nvSpPr>
        <p:spPr>
          <a:xfrm>
            <a:off x="6446520" y="3904488"/>
            <a:ext cx="146304" cy="146304"/>
          </a:xfrm>
          <a:prstGeom prst="ellipse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57416" y="3803904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57416" y="4242816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A9B2D0"/>
                </a:solidFill>
                <a:latin typeface="Calibri"/>
              </a:rPr>
              <a:t>признак: EEG · EMG · EOG · пульс · дыхание · SpO₂</a:t>
            </a:r>
          </a:p>
        </p:txBody>
      </p:sp>
      <p:sp>
        <p:nvSpPr>
          <p:cNvPr id="14" name="Oval 13"/>
          <p:cNvSpPr/>
          <p:nvPr/>
        </p:nvSpPr>
        <p:spPr>
          <a:xfrm>
            <a:off x="6446520" y="4837176"/>
            <a:ext cx="146304" cy="146304"/>
          </a:xfrm>
          <a:prstGeom prst="ellipse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57416" y="473659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7416" y="5175504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A9B2D0"/>
                </a:solidFill>
                <a:latin typeface="Calibri"/>
              </a:rPr>
              <a:t>стадии сна (Wake · Light · Deep · REM)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E2147"/>
                </a:solidFill>
                <a:latin typeface="Cambria"/>
              </a:rPr>
              <a:t>Подход: что повышало результат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3977639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" y="1481328"/>
            <a:ext cx="164592" cy="164592"/>
          </a:xfrm>
          <a:prstGeom prst="ellipse">
            <a:avLst/>
          </a:prstGeom>
          <a:solidFill>
            <a:srgbClr val="6C8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07008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6C8AE4"/>
                </a:solidFill>
                <a:latin typeface="Cambria"/>
              </a:rPr>
              <a:t>Подготовка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52044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0" i="0">
                <a:solidFill>
                  <a:srgbClr val="1E2147"/>
                </a:solidFill>
                <a:latin typeface="Calibri"/>
              </a:rPr>
              <a:t>StandardScaler — критично для SVM</a:t>
            </a:r>
          </a:p>
          <a:p>
            <a:pPr algn="l">
              <a:spcAft>
                <a:spcPts val="900"/>
              </a:spcAft>
            </a:pPr>
            <a:r>
              <a:rPr sz="1350" b="0" i="0">
                <a:solidFill>
                  <a:srgbClr val="1E2147"/>
                </a:solidFill>
                <a:latin typeface="Calibri"/>
              </a:rPr>
              <a:t>Честная CV: StratifiedKFold(5), всё в фолде — без утечек</a:t>
            </a:r>
          </a:p>
          <a:p>
            <a:pPr algn="l">
              <a:spcAft>
                <a:spcPts val="900"/>
              </a:spcAft>
            </a:pPr>
            <a:r>
              <a:rPr sz="1350" b="1" i="0">
                <a:solidFill>
                  <a:srgbClr val="1E2147"/>
                </a:solidFill>
                <a:latin typeface="Calibri"/>
              </a:rPr>
              <a:t>Находка: eog_burst_index пропущен у 50% строк</a:t>
            </a:r>
          </a:p>
        </p:txBody>
      </p:sp>
      <p:pic>
        <p:nvPicPr>
          <p:cNvPr id="7" name="Picture 6" descr="prog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97280"/>
            <a:ext cx="6903720" cy="288139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4206240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4434840"/>
            <a:ext cx="310896" cy="310896"/>
          </a:xfrm>
          <a:prstGeom prst="ellipse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43484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141433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370832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E2147"/>
                </a:solidFill>
                <a:latin typeface="Cambria"/>
              </a:rPr>
              <a:t>Главный рычаг — Ridge-импутация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50292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A6080"/>
                </a:solidFill>
                <a:latin typeface="Calibri"/>
              </a:rPr>
              <a:t>eog предсказуем по другим каналам (R² = 0.87) → заменили медиану на модельную импутацию. </a:t>
            </a:r>
            <a:r>
              <a:rPr sz="1300" b="1" i="0">
                <a:solidFill>
                  <a:srgbClr val="1E2147"/>
                </a:solidFill>
                <a:latin typeface="Calibri"/>
              </a:rPr>
              <a:t>+0.008 на CV, подтверждено на LB (0.846 → 0.853).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4206240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19672" y="4434840"/>
            <a:ext cx="310896" cy="310896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9672" y="443484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4370832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E2147"/>
                </a:solidFill>
                <a:latin typeface="Cambria"/>
              </a:rPr>
              <a:t>Разворот — убрала бустинги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4937760"/>
            <a:ext cx="50292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A6080"/>
                </a:solidFill>
                <a:latin typeface="Calibri"/>
              </a:rPr>
              <a:t>Бустинги поднимали CV, но роняли LB → гладкий SVM обобщается лучше деревьев. </a:t>
            </a:r>
            <a:r>
              <a:rPr sz="1300" b="1" i="0">
                <a:solidFill>
                  <a:srgbClr val="1E2147"/>
                </a:solidFill>
                <a:latin typeface="Calibri"/>
              </a:rPr>
              <a:t>Чистый дотюненный SVM → 0.857.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144768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5A6080"/>
                </a:solidFill>
                <a:latin typeface="Calibri"/>
              </a:rPr>
              <a:t>Проверено и честно отброшено (переобучалось / не переносилось): </a:t>
            </a:r>
            <a:r>
              <a:rPr sz="1250" b="0" i="1">
                <a:solidFill>
                  <a:srgbClr val="5A6080"/>
                </a:solidFill>
                <a:latin typeface="Calibri"/>
              </a:rPr>
              <a:t>стэкинг и бленды, пороги под F1, сплит-модели, псевдо-разметка, PCA / кластеры.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Выводы</a:t>
            </a:r>
          </a:p>
        </p:txBody>
      </p:sp>
      <p:sp>
        <p:nvSpPr>
          <p:cNvPr id="3" name="Oval 2"/>
          <p:cNvSpPr/>
          <p:nvPr/>
        </p:nvSpPr>
        <p:spPr>
          <a:xfrm>
            <a:off x="868680" y="1463040"/>
            <a:ext cx="457200" cy="457200"/>
          </a:xfrm>
          <a:prstGeom prst="ellipse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>
                <a:solidFill>
                  <a:srgbClr val="141433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408176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Решает не модель, а 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47088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A9B2D0"/>
                </a:solidFill>
                <a:latin typeface="Calibri"/>
              </a:rPr>
              <a:t>Самый большой честный прирост дала диагностика одного пропущенного признака, а не новый алгоритм.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615184"/>
            <a:ext cx="457200" cy="457200"/>
          </a:xfrm>
          <a:prstGeom prst="ellipse">
            <a:avLst/>
          </a:prstGeom>
          <a:solidFill>
            <a:srgbClr val="6C8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61518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560320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CV ≠ лидерборд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999232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A9B2D0"/>
                </a:solidFill>
                <a:latin typeface="Calibri"/>
              </a:rPr>
              <a:t>Важнее не доли на CV, а как модель обобщается. Гладкий SVM переносится на тест лучше деревьев.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767328"/>
            <a:ext cx="457200" cy="457200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767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712464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Доверять честной валидации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151376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A9B2D0"/>
                </a:solidFill>
                <a:latin typeface="Calibri"/>
              </a:rPr>
              <a:t>Не публичному скору: подгонка под публичный сплит бьёт по тебе же — итог решает private.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029200"/>
            <a:ext cx="10515600" cy="1371600"/>
          </a:xfrm>
          <a:prstGeom prst="roundRect">
            <a:avLst>
              <a:gd name="adj" fmla="val 5000"/>
            </a:avLst>
          </a:prstGeom>
          <a:solidFill>
            <a:srgbClr val="212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52120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FFC857"/>
                </a:solidFill>
                <a:latin typeface="Cambria"/>
              </a:rPr>
              <a:t>Что сделала бы при наличии времени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650992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A9B2D0"/>
                </a:solidFill>
                <a:latin typeface="Calibri"/>
              </a:rPr>
              <a:t>Признаки под трудный класс Deep · residual-eog и точнее импутация · калиброванный ансамбль с проверкой на устойчивость к сдвигу распределения.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656</Words>
  <Application>Microsoft Macintosh PowerPoint</Application>
  <PresentationFormat>Широкоэкранный</PresentationFormat>
  <Paragraphs>52</Paragraphs>
  <Slides>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Aza Atzhanova</cp:lastModifiedBy>
  <cp:revision>2</cp:revision>
  <dcterms:created xsi:type="dcterms:W3CDTF">2013-01-27T09:14:16Z</dcterms:created>
  <dcterms:modified xsi:type="dcterms:W3CDTF">2026-06-26T12:13:40Z</dcterms:modified>
  <cp:category/>
</cp:coreProperties>
</file>