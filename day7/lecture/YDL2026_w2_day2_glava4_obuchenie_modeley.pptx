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YDL 2026 · Неделя 2 · День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 моделей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Линейная регрессия, градиентный спуск, регуляризация</a:t>
            </a:r>
            <a:endParaRPr lang="en-US" sz="21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главе 4 «Hands-On Machine Learning» (Жерон)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Заглянем внутрь модели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41732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сих пор мы пользовались моделями как «чёрным ящиком»: обучили и проверили, не зная, что внутри.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12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11226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этой главе разберём, </a:t>
            </a:r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именно модель обучается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на примере линейных моделей.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807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807208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пути обучения: прямое решение уравнением и итеративный </a:t>
            </a:r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градиентный спуск (gradient descent)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3502152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Затем: полиномиальная регрессия, кривые обучения, регуляризация и логистическая регрессия.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Линейная регрессия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линейной регрессии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28016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Прогноз, это взвешенная сумма признаков плюс константа, </a:t>
            </a:r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член смещения (bias term)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700" dirty="0"/>
          </a:p>
        </p:txBody>
      </p:sp>
      <p:pic>
        <p:nvPicPr>
          <p:cNvPr id="5" name="Image 0" descr="f_lin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3270638"/>
            <a:ext cx="5852160" cy="6824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Векторизованная форма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28016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же компактно: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вектор параметров;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вектор признаков (где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x₀ = 1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97510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скалярное произведение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θᵀ·x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pic>
        <p:nvPicPr>
          <p:cNvPr id="7" name="Image 0" descr="f_vector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3001702"/>
            <a:ext cx="5852160" cy="12203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обучать: мера качества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28016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Обучить модель, значит подобрать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при котором она лучше всего подогнана к данным.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97510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мера ошибки. Чаще всего это </a:t>
            </a:r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(средняя квадратичная ошибка); минимизируем её.</a:t>
            </a:r>
            <a:endParaRPr lang="en-US" sz="1700" dirty="0"/>
          </a:p>
        </p:txBody>
      </p:sp>
      <p:pic>
        <p:nvPicPr>
          <p:cNvPr id="7" name="Image 0" descr="f_m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788" y="2926080"/>
            <a:ext cx="5824425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Нормальное уравнение</a:t>
            </a:r>
            <a:endParaRPr lang="en-US" sz="4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 в аналитическом виде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28016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прямое решение </a:t>
            </a:r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(closed-form)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дающее минимум функции издержек сразу, без итераций:</a:t>
            </a:r>
            <a:endParaRPr lang="en-US" sz="1700" dirty="0"/>
          </a:p>
        </p:txBody>
      </p:sp>
      <p:pic>
        <p:nvPicPr>
          <p:cNvPr id="5" name="Image 0" descr="f_norm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096" y="2926080"/>
            <a:ext cx="5569808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Сгенерируем линейные данные</a:t>
            </a:r>
            <a:endParaRPr lang="en-US" sz="2500" dirty="0"/>
          </a:p>
        </p:txBody>
      </p:sp>
      <p:pic>
        <p:nvPicPr>
          <p:cNvPr id="3" name="Image 0" descr="g_lin_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60" y="1371600"/>
            <a:ext cx="436856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0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532120" y="1417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4 + 3x₁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гауссов шум.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303520" y="18562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532120" y="1856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Нормальное уравнение нашло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[4.215, 2.770]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03520" y="25694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532120" y="256946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Надеялись на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шум мешает восстановить точно.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Прогноз модели</a:t>
            </a:r>
            <a:endParaRPr lang="en-US" sz="2500" dirty="0"/>
          </a:p>
        </p:txBody>
      </p:sp>
      <p:pic>
        <p:nvPicPr>
          <p:cNvPr id="3" name="Image 0" descr="g_lin_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60" y="1371600"/>
            <a:ext cx="436856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0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532120" y="14173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при x = 0 и x = 2: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[4.215, 9.755]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303520" y="21305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532120" y="21305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Scikit-Learn то же самое даёт </a:t>
            </a:r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03520" y="284378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532120" y="284378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Она отделяет член смещения </a:t>
            </a:r>
            <a:pPr indent="0" marL="0">
              <a:lnSpc>
                <a:spcPts val="18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(intercept_)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от весов </a:t>
            </a:r>
            <a:pPr indent="0" marL="0">
              <a:lnSpc>
                <a:spcPts val="18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(coef_)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Вычислительная сложность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37160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Нормальное уравнение обращает матрицу n×n, сложность примерно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O(n²·⁴)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…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O(n³)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числу признаков.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06654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Становится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очень медленным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когда признаков много (скажем, 100 000).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487168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Зато линейно по числу образцов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O(m)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и прогноз после обучения очень быстрый.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3182112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Дальше, способы обучения, которые лучше подходят при многих признаках или огромных наборах.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Градиентный спуск</a:t>
            </a:r>
            <a:endParaRPr lang="en-US" sz="4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Идея: спуск с горы в тумане</a:t>
            </a:r>
            <a:endParaRPr lang="en-US" sz="2500" dirty="0"/>
          </a:p>
        </p:txBody>
      </p:sp>
      <p:pic>
        <p:nvPicPr>
          <p:cNvPr id="3" name="Image 0" descr="g_gd_bow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208" y="1371600"/>
            <a:ext cx="4258863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0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532120" y="14173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Заполняем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случайно, затем шагаем вниз по склону функции издержек.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303520" y="21305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532120" y="21305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градиент стал нулевым, мы в минимуме.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03520" y="284378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532120" y="284378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шага задаёт </a:t>
            </a:r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обучения (learning rate) η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Скорость обучения решает всё</a:t>
            </a:r>
            <a:endParaRPr lang="en-US" sz="2500" dirty="0"/>
          </a:p>
        </p:txBody>
      </p:sp>
      <p:pic>
        <p:nvPicPr>
          <p:cNvPr id="3" name="Image 0" descr="g_lr_pa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730" y="1463040"/>
            <a:ext cx="7302539" cy="2651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902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Мала: сходится долго. Хорошо: за несколько итераций. Велика: расходится.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Ловушки и хорошая новость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41732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сложных функций издержек бывают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локальные минимумы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плато, овраги.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837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83794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MSE линейной регрессии, </a:t>
            </a:r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выпуклая функция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один глобальный минимум, без локальных.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532888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Спуск гарантированно подберётся к нему, если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 слишком велика и хватит итераций.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3227832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</a:t>
            </a:r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масштабировать признаки (StandardScaler)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иначе чаша вытянута и спуск долог.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Пакетный градиентный спуск (batch)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2801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Вектор-градиент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всему обучающему набору на каждом шаге:</a:t>
            </a:r>
            <a:endParaRPr lang="en-US" sz="1700" dirty="0"/>
          </a:p>
        </p:txBody>
      </p:sp>
      <p:pic>
        <p:nvPicPr>
          <p:cNvPr id="5" name="Image 0" descr="f_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2501153"/>
            <a:ext cx="5120640" cy="94129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Шаг спуска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2801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Вычитаем градиент, умноженный на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00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70078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на наших данных: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[4.215, 2.770]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в точности как нормальное уравнение.</a:t>
            </a:r>
            <a:endParaRPr lang="en-US" sz="1700" dirty="0"/>
          </a:p>
        </p:txBody>
      </p:sp>
      <p:pic>
        <p:nvPicPr>
          <p:cNvPr id="7" name="Image 0" descr="f_gdst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2851134"/>
            <a:ext cx="5120640" cy="6985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Стохастический градиентный спуск (SGD)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37160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Пакетный медленный на больших наборах: берёт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набор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каждом шаге.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06654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на каждом шаге берёт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случайный образец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Быстрый, тянет огромные наборы.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761488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Издержки скачут вверх-вниз, снижаясь лишь в среднем; случайность помогает уходить от локальных минимумов.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3456432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Снижаем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</a:t>
            </a:r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графику обучения (learning schedule)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это «имитация отжига». Результат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[4.215, 2.753]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Мини-пакетный градиентный спуск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55448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Мини-пакетный (mini-batch)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градиент на небольших случайных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мини-пакетах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24942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плюс, ускорение за счёт аппаратной оптимизации матриц, особенно на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944368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Блуждает у минимума менее хаотично, чем SGD, и обычно подходит ближе.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Пути в пространстве параметров</a:t>
            </a:r>
            <a:endParaRPr lang="en-US" sz="2500" dirty="0"/>
          </a:p>
        </p:txBody>
      </p:sp>
      <p:pic>
        <p:nvPicPr>
          <p:cNvPr id="3" name="Image 0" descr="g_gd_path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006" y="1371600"/>
            <a:ext cx="4304149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715000" y="14173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Пакетный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идёт прямо и замирает в минимуме.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0" y="21305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15000" y="213055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Стохастический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дёргается и не оседает.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0" y="284378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15000" y="284378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Мини-пакетный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между ними, ближе к минимуму.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Сравнение алгоритмов (таблица 4.1)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1417320"/>
            <a:ext cx="1737360" cy="566928"/>
          </a:xfrm>
          <a:prstGeom prst="rect">
            <a:avLst/>
          </a:prstGeom>
          <a:solidFill>
            <a:srgbClr val="EFF6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1417320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103120" y="1417320"/>
            <a:ext cx="1051560" cy="566928"/>
          </a:xfrm>
          <a:prstGeom prst="rect">
            <a:avLst/>
          </a:prstGeom>
          <a:solidFill>
            <a:srgbClr val="EFF6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30552" y="1417320"/>
            <a:ext cx="996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Большое 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54680" y="1417320"/>
            <a:ext cx="960120" cy="566928"/>
          </a:xfrm>
          <a:prstGeom prst="rect">
            <a:avLst/>
          </a:prstGeom>
          <a:solidFill>
            <a:srgbClr val="EFF6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82112" y="1417320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Внешнее</a:t>
            </a:r>
            <a:endParaRPr lang="en-US" sz="10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1417320"/>
            <a:ext cx="1051560" cy="566928"/>
          </a:xfrm>
          <a:prstGeom prst="rect">
            <a:avLst/>
          </a:prstGeom>
          <a:solidFill>
            <a:srgbClr val="EFF6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42232" y="1417320"/>
            <a:ext cx="996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Большое 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66360" y="1417320"/>
            <a:ext cx="868680" cy="566928"/>
          </a:xfrm>
          <a:prstGeom prst="rect">
            <a:avLst/>
          </a:prstGeom>
          <a:solidFill>
            <a:srgbClr val="EFF6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3792" y="1417320"/>
            <a:ext cx="81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Гипер-</a:t>
            </a:r>
            <a:endParaRPr lang="en-US" sz="10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1051560" cy="566928"/>
          </a:xfrm>
          <a:prstGeom prst="rect">
            <a:avLst/>
          </a:prstGeom>
          <a:solidFill>
            <a:srgbClr val="EFF6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62472" y="1417320"/>
            <a:ext cx="996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Масшта-</a:t>
            </a:r>
            <a:endParaRPr lang="en-US" sz="10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бирование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86600" y="1417320"/>
            <a:ext cx="1508760" cy="566928"/>
          </a:xfrm>
          <a:prstGeom prst="rect">
            <a:avLst/>
          </a:prstGeom>
          <a:solidFill>
            <a:srgbClr val="EFF6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4032" y="1417320"/>
            <a:ext cx="1453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1984248"/>
            <a:ext cx="1737360" cy="566928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1984248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Нормальное уравнение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03120" y="198424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30552" y="1984248"/>
            <a:ext cx="996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198424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82112" y="1984248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0" y="198424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42232" y="1984248"/>
            <a:ext cx="996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Медленный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66360" y="198424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93792" y="1984248"/>
            <a:ext cx="81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198424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2472" y="1984248"/>
            <a:ext cx="996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86600" y="1984248"/>
            <a:ext cx="1508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14032" y="1984248"/>
            <a:ext cx="1453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2551176"/>
            <a:ext cx="1737360" cy="566928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2551176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Пакетный GD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103120" y="2551176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30552" y="2551176"/>
            <a:ext cx="996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Медленный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54680" y="2551176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82112" y="2551176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0" y="2551176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42232" y="2551176"/>
            <a:ext cx="996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166360" y="2551176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93792" y="2551176"/>
            <a:ext cx="81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35040" y="2551176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62472" y="2551176"/>
            <a:ext cx="996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086600" y="2551176"/>
            <a:ext cx="1508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14032" y="2551176"/>
            <a:ext cx="1453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SGDRegressor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3118104"/>
            <a:ext cx="1737360" cy="566928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" y="3118104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Стохастический GD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103120" y="3118104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30552" y="3118104"/>
            <a:ext cx="996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154680" y="3118104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82112" y="3118104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114800" y="3118104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42232" y="3118104"/>
            <a:ext cx="996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166360" y="3118104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93792" y="3118104"/>
            <a:ext cx="81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035040" y="3118104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62472" y="3118104"/>
            <a:ext cx="996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086600" y="3118104"/>
            <a:ext cx="1508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14032" y="3118104"/>
            <a:ext cx="1453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SGDRegressor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65760" y="3685032"/>
            <a:ext cx="1737360" cy="566928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3192" y="3685032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Мини-пакетный GD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103120" y="368503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130552" y="3685032"/>
            <a:ext cx="996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154680" y="3685032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182112" y="3685032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114800" y="368503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42232" y="3685032"/>
            <a:ext cx="996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166360" y="3685032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93792" y="3685032"/>
            <a:ext cx="81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35040" y="368503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062472" y="3685032"/>
            <a:ext cx="996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086600" y="3685032"/>
            <a:ext cx="1508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114032" y="3685032"/>
            <a:ext cx="1453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SGDRegressor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40080" y="45902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m, число обучающих образцов; n, число признаков.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Полиномиальная регрессия</a:t>
            </a:r>
            <a:endParaRPr lang="en-US" sz="4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Нелинейные данные</a:t>
            </a:r>
            <a:endParaRPr lang="en-US" sz="2500" dirty="0"/>
          </a:p>
        </p:txBody>
      </p:sp>
      <p:pic>
        <p:nvPicPr>
          <p:cNvPr id="3" name="Image 0" descr="g_poly_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443" y="1371600"/>
            <a:ext cx="4142394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0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532120" y="14173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Прямая под такие данные не подойдёт.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303520" y="21305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532120" y="21305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0.5x² + x + 2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шум.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03520" y="25694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532120" y="256946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Добавим к признаку его </a:t>
            </a:r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квадрат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через </a:t>
            </a:r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PolynomialFeatures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Подгонка полиномом 2-й степени</a:t>
            </a:r>
            <a:endParaRPr lang="en-US" sz="2500" dirty="0"/>
          </a:p>
        </p:txBody>
      </p:sp>
      <p:pic>
        <p:nvPicPr>
          <p:cNvPr id="3" name="Image 0" descr="g_poly_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443" y="1371600"/>
            <a:ext cx="4142394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0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532120" y="14173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PolynomialFeatures(degree=2):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-0.75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[-0.75, 0.57]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303520" y="21305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532120" y="21305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оценила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0.56x² + 0.93x + 1.78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03520" y="284378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532120" y="284378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Настоящая функция была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0.5x² + x + 2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очень близко.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Полином находит связи признаков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46304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многих признаках полином находит </a:t>
            </a:r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связи между ними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чего простая линейная модель не умеет.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15798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PolynomialFeatures добавляет и все комбинации признаков до заданной степени (для a, b при degree=3: a², a³, b², b³, ab, a²b, ab²).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852928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Осторожно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число признаков растёт комбинаторно, легко получить взрыв размерности.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Кривые обучения</a:t>
            </a:r>
            <a:endParaRPr lang="en-US" sz="4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Степень модели: 1, 2, 300</a:t>
            </a:r>
            <a:endParaRPr lang="en-US" sz="2500" dirty="0"/>
          </a:p>
        </p:txBody>
      </p:sp>
      <p:pic>
        <p:nvPicPr>
          <p:cNvPr id="3" name="Image 0" descr="g_poly_degre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47" y="1371600"/>
            <a:ext cx="4314065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715000" y="14173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Степень 300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колеблется, ловит шум, сильное переобучение.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0" y="21305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15000" y="213055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Степень 1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слишком проста, недообучение.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0" y="284378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15000" y="284378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Степень 2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хорошо обобщает (данные ведь квадратичные).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понять, что не так?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46304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Обычно мы не знаем настоящую функцию. Как решить, насколько сложной должна быть модель?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15798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 1: </a:t>
            </a:r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перекрёстная проверка (cross-validation)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Хорошо на обучении, плохо на проверке, переобучение; плохо везде, недообучение.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852928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 2: </a:t>
            </a:r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кривые обучения (learning curves)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графики ошибки на обучении и проверке от размера набора.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Кривые: линейная модель</a:t>
            </a:r>
            <a:endParaRPr lang="en-US" sz="2500" dirty="0"/>
          </a:p>
        </p:txBody>
      </p:sp>
      <p:pic>
        <p:nvPicPr>
          <p:cNvPr id="3" name="Image 0" descr="g_lc_lin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244" y="1371600"/>
            <a:ext cx="4094792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0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532120" y="14173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кривые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высоко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близко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друг к другу.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303520" y="21305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532120" y="21305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типичная картина </a:t>
            </a:r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недообучения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03520" y="25694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532120" y="256946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Добавлять данные бесполезно: нужна модель сложнее или лучшие признаки.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Кривые: полином degree=10</a:t>
            </a:r>
            <a:endParaRPr lang="en-US" sz="2500" dirty="0"/>
          </a:p>
        </p:txBody>
      </p:sp>
      <p:pic>
        <p:nvPicPr>
          <p:cNvPr id="3" name="Image 0" descr="g_lc_po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244" y="1371600"/>
            <a:ext cx="4094792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0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532120" y="1417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на обучении заметно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303520" y="18562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532120" y="1856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кривыми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зазор (gap)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признак </a:t>
            </a:r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переобучения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03520" y="25694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532120" y="256946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Тут поможет больше данных: кривые сблизятся.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Компромисс смещения и дисперсии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37160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обобщения, это сумма трёх частей: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" y="1792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89888" y="1792224"/>
            <a:ext cx="7342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Смещение (bias)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неверные допущения (считаем данные линейными, а они квадратичные). Высокое смещение, недообучение.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89888" y="2487168"/>
            <a:ext cx="7342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Дисперсия (variance)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чрезмерная чувствительность к данным. Высокая дисперсия, переобучение.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89888" y="3182112"/>
            <a:ext cx="7342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Неустранимая погрешность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шум в самих данных. Лечится только очисткой данных.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3877056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Сложнее модель, выше дисперсия и ниже смещение. Отсюда и слово «компромисс».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Регуляризованные линейные модели</a:t>
            </a:r>
            <a:endParaRPr lang="en-US" sz="4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ограничивать модель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55448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Хороший способ снизить переобучение, </a:t>
            </a:r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регуляризовать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модель, то есть ограничить её.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24942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меньше у модели степеней свободы, тем труднее ей переобучиться.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670048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линейных моделей ограничивают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Разберём три способа: Ridge, Lasso, ElasticNet.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Гребневая регрессия (Ridge)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28016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издержкам добавляют член </a:t>
            </a:r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сумму квадратов весов, умноженную на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97510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не только подгоняется, но и держит веса малыми.</a:t>
            </a:r>
            <a:endParaRPr lang="en-US" sz="1700" dirty="0"/>
          </a:p>
        </p:txBody>
      </p:sp>
      <p:pic>
        <p:nvPicPr>
          <p:cNvPr id="7" name="Image 0" descr="f_ri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3852" y="2926080"/>
            <a:ext cx="4056296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Ridge: рост α сглаживает прогноз</a:t>
            </a:r>
            <a:endParaRPr lang="en-US" sz="2500" dirty="0"/>
          </a:p>
        </p:txBody>
      </p:sp>
      <p:pic>
        <p:nvPicPr>
          <p:cNvPr id="3" name="Image 0" descr="g_ri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263" y="1371600"/>
            <a:ext cx="3926754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0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532120" y="1417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обычная линейная регрессия.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303520" y="18562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532120" y="1856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веса близки к нулю, почти ровная линия.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03520" y="25694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532120" y="256946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масштабировать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признаки. Ridge(α=1) на демо-точке даёт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1.551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Лассо-регрессия (Lasso)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2801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же, но член </a:t>
            </a:r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сумма модулей весов.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00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70078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свойство: лассо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обнуляет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веса бесполезных признаков, то есть делает отбор признаков.</a:t>
            </a:r>
            <a:endParaRPr lang="en-US" sz="1700" dirty="0"/>
          </a:p>
        </p:txBody>
      </p:sp>
      <p:pic>
        <p:nvPicPr>
          <p:cNvPr id="7" name="Image 0" descr="f_las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1986" y="2926080"/>
            <a:ext cx="3580028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Lasso обнуляет лишние веса</a:t>
            </a:r>
            <a:endParaRPr lang="en-US" sz="2500" dirty="0"/>
          </a:p>
        </p:txBody>
      </p:sp>
      <p:pic>
        <p:nvPicPr>
          <p:cNvPr id="3" name="Image 0" descr="g_lasso_z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419" y="1371600"/>
            <a:ext cx="4337322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715000" y="14173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признаков, полезны только 3 (0, 2, 5).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0" y="21305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15000" y="213055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все веса малы, но не нули.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0" y="25694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15000" y="256946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лишние веса ровно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Lasso(α=0.1) на демо даёт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1.538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Эластичная сеть (ElasticNet)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28016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Серединная точка между Ridge и Lasso. Смесь регулируется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при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это Ridge, при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это Lasso.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97510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ElasticNet(α=0.1, l1_ratio=0.5) на демо-точке даёт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1.543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pic>
        <p:nvPicPr>
          <p:cNvPr id="7" name="Image 0" descr="f_e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6792" y="3017520"/>
            <a:ext cx="6110416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выбирать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46304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всегда лучше иметь </a:t>
            </a:r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хоть немного регуляризации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обычной линейной регрессии стоит избегать.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15798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хороший вариант по умолчанию.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578608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/ ElasticNet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если полезны лишь несколько признаков (они обнуляют остальные).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3273552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 предпочтительнее Lasso, когда признаков больше, чем образцов, или они сильно связаны.</a:t>
            </a:r>
            <a:endParaRPr lang="en-US" sz="1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Раннее прекращение (early stopping)</a:t>
            </a:r>
            <a:endParaRPr lang="en-US" sz="2500" dirty="0"/>
          </a:p>
        </p:txBody>
      </p:sp>
      <p:pic>
        <p:nvPicPr>
          <p:cNvPr id="3" name="Image 0" descr="g_early_s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066" y="1371600"/>
            <a:ext cx="4250028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715000" y="14173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Останавливаем обучение, как только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на проверке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достигла минимума.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0" y="24048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15000" y="240487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она растёт, это начало переобучения.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0" y="31181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15000" y="311810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Хинтон назвал приём «превосходным бесплатным завтраком».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Логистическая регрессия</a:t>
            </a:r>
            <a:endParaRPr lang="en-US" sz="4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Логистическая (сигмоидальная) функция</a:t>
            </a:r>
            <a:endParaRPr lang="en-US" sz="2500" dirty="0"/>
          </a:p>
        </p:txBody>
      </p:sp>
      <p:pic>
        <p:nvPicPr>
          <p:cNvPr id="3" name="Image 0" descr="g_sigmo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20636"/>
            <a:ext cx="4754880" cy="29194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715000" y="14173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Регрессию можно применить и для </a:t>
            </a:r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классификации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0" y="21305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15000" y="2130552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считает взвешенную сумму, затем прогоняет её через сигмоиду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σ(t)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выдаёт число от 0 до 1.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0" y="31181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15000" y="311810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оценка вероятности. Порог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бинарный классификатор.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Демо: ирис виргинский по ширине лепестка</a:t>
            </a:r>
            <a:endParaRPr lang="en-US" sz="2500" dirty="0"/>
          </a:p>
        </p:txBody>
      </p:sp>
      <p:pic>
        <p:nvPicPr>
          <p:cNvPr id="3" name="Image 0" descr="g_logis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9794"/>
            <a:ext cx="4754880" cy="30011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715000" y="14173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Признак, ширина лепестка; цель, виргинский ли это ирис.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0" y="21305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15000" y="213055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виргинского ширина 1.4–2.5 см, у прочих меньше.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0" y="284378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15000" y="284378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решений около 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см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где вероятность 50%.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 (многоклассовая)</a:t>
            </a:r>
            <a:endParaRPr lang="en-US" sz="4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Многопеременная логистическая регрессия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28016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класса считаем сумму очков, затем прогоняем все суммы через </a:t>
            </a:r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97510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Прогноз, класс с наибольшей вероятностью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(argmax)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Только для взаимоисключающих классов.</a:t>
            </a:r>
            <a:endParaRPr lang="en-US" sz="1700" dirty="0"/>
          </a:p>
        </p:txBody>
      </p:sp>
      <p:pic>
        <p:nvPicPr>
          <p:cNvPr id="7" name="Image 0" descr="f_softma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5718" y="2926080"/>
            <a:ext cx="2432563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Функция издержек: перекрёстная энтропия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28016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Перекрёстная энтропия (cross-entropy)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штрафует модель за низкую вероятность верного класса.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97510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двух классах сводится к издержкам логистической регрессии (log loss).</a:t>
            </a:r>
            <a:endParaRPr lang="en-US" sz="1700" dirty="0"/>
          </a:p>
        </p:txBody>
      </p:sp>
      <p:pic>
        <p:nvPicPr>
          <p:cNvPr id="7" name="Image 0" descr="f_cross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8809" y="2926080"/>
            <a:ext cx="3946382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Границы решений на трёх классах ирисов</a:t>
            </a:r>
            <a:endParaRPr lang="en-US" sz="2500" dirty="0"/>
          </a:p>
        </p:txBody>
      </p:sp>
      <p:pic>
        <p:nvPicPr>
          <p:cNvPr id="3" name="Image 0" descr="g_softma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820" y="1371600"/>
            <a:ext cx="4511401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0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897880" y="1417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вида ириса по длине и ширине лепестка.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69280" y="21305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897880" y="213055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делит пространство на три области.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0" y="284378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897880" y="2843784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Подробно классификацию разберём в </a:t>
            </a:r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 3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 главы 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37160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Линейная регрессия: </a:t>
            </a:r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нормальное уравнение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(прямое решение) и </a:t>
            </a:r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градиентный спуск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(итеративно).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06654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варианта спуска: пакетный, стохастический, мини-пакетный; роль 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скорости обучения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масштабирования.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761488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Полином и </a:t>
            </a:r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кривые обучения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как видеть недообучение и переобучение.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3182112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Регуляризация: </a:t>
            </a:r>
            <a:pPr indent="0" marL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Ridge, Lasso, ElasticNet</a:t>
            </a:r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раннее прекращение.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3602736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Логистическая регрессия и softmax, мост к классификации в Дне 3.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2026-06-22T22:09:02Z</dcterms:created>
  <dcterms:modified xsi:type="dcterms:W3CDTF">2026-06-22T22:09:02Z</dcterms:modified>
</cp:coreProperties>
</file>