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  <p:sldId id="359" r:id="rId105"/>
    <p:sldId id="360" r:id="rId106"/>
    <p:sldId id="361" r:id="rId10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7" d="100"/>
          <a:sy n="147" d="100"/>
        </p:scale>
        <p:origin x="54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tableStyles" Target="tableStyles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notesMaster" Target="notesMasters/notesMaster1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presProps" Target="presProps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viewProps" Target="viewProps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685520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1.xml"/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2.xml"/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3.xml"/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4.xml"/><Relationship Id="rId1" Type="http://schemas.openxmlformats.org/officeDocument/2006/relationships/notesMaster" Target="../notesMasters/notesMaster1.xml"/></Relationships>
</file>

<file path=ppt/notesSlides/_rels/notesSlide10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5.xml"/><Relationship Id="rId1" Type="http://schemas.openxmlformats.org/officeDocument/2006/relationships/notesMaster" Target="../notesMasters/notesMaster1.xml"/></Relationships>
</file>

<file path=ppt/notesSlides/_rels/notesSlide10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1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1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1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1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1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1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1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1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1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1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1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1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1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1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1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1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1.xml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1.xml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1.xml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1.xml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92.xml"/><Relationship Id="rId1" Type="http://schemas.openxmlformats.org/officeDocument/2006/relationships/slideLayout" Target="../slideLayouts/slideLayout1.xml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93.xml"/><Relationship Id="rId1" Type="http://schemas.openxmlformats.org/officeDocument/2006/relationships/slideLayout" Target="../slideLayouts/slideLayout1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4.xml"/><Relationship Id="rId1" Type="http://schemas.openxmlformats.org/officeDocument/2006/relationships/slideLayout" Target="../slideLayouts/slideLayout1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5.xml"/><Relationship Id="rId1" Type="http://schemas.openxmlformats.org/officeDocument/2006/relationships/slideLayout" Target="../slideLayouts/slideLayout1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6.xml"/><Relationship Id="rId1" Type="http://schemas.openxmlformats.org/officeDocument/2006/relationships/slideLayout" Target="../slideLayouts/slideLayout1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7.xml"/><Relationship Id="rId1" Type="http://schemas.openxmlformats.org/officeDocument/2006/relationships/slideLayout" Target="../slideLayouts/slideLayout1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8.xml"/><Relationship Id="rId1" Type="http://schemas.openxmlformats.org/officeDocument/2006/relationships/slideLayout" Target="../slideLayouts/slideLayout1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9.xml"/><Relationship Id="rId1" Type="http://schemas.openxmlformats.org/officeDocument/2006/relationships/slideLayout" Target="../slideLayouts/slideLayout1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0.xml"/><Relationship Id="rId1" Type="http://schemas.openxmlformats.org/officeDocument/2006/relationships/slideLayout" Target="../slideLayouts/slideLayout1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1.xml"/><Relationship Id="rId1" Type="http://schemas.openxmlformats.org/officeDocument/2006/relationships/slideLayout" Target="../slideLayouts/slideLayout1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2.xml"/><Relationship Id="rId1" Type="http://schemas.openxmlformats.org/officeDocument/2006/relationships/slideLayout" Target="../slideLayouts/slideLayout1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3.xml"/><Relationship Id="rId1" Type="http://schemas.openxmlformats.org/officeDocument/2006/relationships/slideLayout" Target="../slideLayouts/slideLayout1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4.xml"/><Relationship Id="rId1" Type="http://schemas.openxmlformats.org/officeDocument/2006/relationships/slideLayout" Target="../slideLayouts/slideLayout1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5.xml"/><Relationship Id="rId1" Type="http://schemas.openxmlformats.org/officeDocument/2006/relationships/slideLayout" Target="../slideLayouts/slideLayout1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1430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YDL 2026 · Неделя 2 · Обзор ML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640080" y="160020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Машинное обучение: обзор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306324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такое машинное обучение?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30"/>
              </a:lnSpc>
              <a:buNone/>
            </a:pPr>
            <a:r>
              <a:rPr lang="en-US" sz="26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Машинное обучение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15544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932688" y="1554480"/>
            <a:ext cx="77998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74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Прежде чем переходить к нейросетям (</a:t>
            </a:r>
            <a:r>
              <a:rPr lang="en-US" sz="2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networks</a:t>
            </a: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), TensorFlow, Keras и подобному, полезно разобраться с несколькими фундаментальными идеями машинного обучения.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252374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32688" y="2523744"/>
            <a:ext cx="7799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74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cs typeface="Calibri" pitchFamily="34" charset="-120"/>
              </a:rPr>
              <a:t>В этом разделе разберём важную теорию и понятия вокруг ML.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30"/>
              </a:lnSpc>
              <a:buNone/>
            </a:pPr>
            <a:r>
              <a:rPr lang="en-US" sz="26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Что разберём в разделе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12801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932688" y="1280160"/>
            <a:ext cx="7799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74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cs typeface="Calibri" pitchFamily="34" charset="-120"/>
              </a:rPr>
              <a:t>Что такое машинное </a:t>
            </a:r>
            <a:r>
              <a:rPr lang="en-US" sz="2000" dirty="0" err="1">
                <a:solidFill>
                  <a:srgbClr val="1A1A1A"/>
                </a:solidFill>
                <a:latin typeface="Calibri" pitchFamily="34" charset="0"/>
                <a:cs typeface="Calibri" pitchFamily="34" charset="-120"/>
              </a:rPr>
              <a:t>обучение</a:t>
            </a:r>
            <a:r>
              <a:rPr lang="en-US" sz="2000" dirty="0">
                <a:solidFill>
                  <a:srgbClr val="1A1A1A"/>
                </a:solidFill>
                <a:latin typeface="Calibri" pitchFamily="34" charset="0"/>
                <a:cs typeface="Calibri" pitchFamily="34" charset="-120"/>
              </a:rPr>
              <a:t>?</a:t>
            </a:r>
          </a:p>
        </p:txBody>
      </p:sp>
      <p:sp>
        <p:nvSpPr>
          <p:cNvPr id="5" name="Text 3"/>
          <p:cNvSpPr/>
          <p:nvPr/>
        </p:nvSpPr>
        <p:spPr>
          <a:xfrm>
            <a:off x="640080" y="17007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32688" y="1700784"/>
            <a:ext cx="7799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74"/>
              </a:lnSpc>
              <a:buNone/>
            </a:pPr>
            <a:r>
              <a:rPr lang="en-US" sz="20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</a:t>
            </a: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такое</a:t>
            </a: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глубокое</a:t>
            </a: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обучение</a:t>
            </a: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</a:t>
            </a:r>
            <a:r>
              <a:rPr lang="en-US" sz="2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</a:t>
            </a: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)?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21214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32688" y="2121408"/>
            <a:ext cx="7799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74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cs typeface="Calibri" pitchFamily="34" charset="-120"/>
              </a:rPr>
              <a:t>Чем обучение с учителем отличается от обучения без </a:t>
            </a:r>
            <a:r>
              <a:rPr lang="en-US" sz="2000" dirty="0" err="1">
                <a:solidFill>
                  <a:srgbClr val="1A1A1A"/>
                </a:solidFill>
                <a:latin typeface="Calibri" pitchFamily="34" charset="0"/>
                <a:cs typeface="Calibri" pitchFamily="34" charset="-120"/>
              </a:rPr>
              <a:t>учителя</a:t>
            </a:r>
            <a:r>
              <a:rPr lang="en-US" sz="2000" dirty="0">
                <a:solidFill>
                  <a:srgbClr val="1A1A1A"/>
                </a:solidFill>
                <a:latin typeface="Calibri" pitchFamily="34" charset="0"/>
                <a:cs typeface="Calibri" pitchFamily="34" charset="-120"/>
              </a:rPr>
              <a:t>.</a:t>
            </a:r>
          </a:p>
        </p:txBody>
      </p:sp>
      <p:sp>
        <p:nvSpPr>
          <p:cNvPr id="9" name="Text 7"/>
          <p:cNvSpPr/>
          <p:nvPr/>
        </p:nvSpPr>
        <p:spPr>
          <a:xfrm>
            <a:off x="640080" y="25420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932688" y="2542032"/>
            <a:ext cx="7799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74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cs typeface="Calibri" pitchFamily="34" charset="-120"/>
              </a:rPr>
              <a:t>Процесс обучения с </a:t>
            </a:r>
            <a:r>
              <a:rPr lang="en-US" sz="2000" dirty="0" err="1">
                <a:solidFill>
                  <a:srgbClr val="1A1A1A"/>
                </a:solidFill>
                <a:latin typeface="Calibri" pitchFamily="34" charset="0"/>
                <a:cs typeface="Calibri" pitchFamily="34" charset="-120"/>
              </a:rPr>
              <a:t>учителем</a:t>
            </a:r>
            <a:r>
              <a:rPr lang="en-US" sz="2000" dirty="0">
                <a:solidFill>
                  <a:srgbClr val="1A1A1A"/>
                </a:solidFill>
                <a:latin typeface="Calibri" pitchFamily="34" charset="0"/>
                <a:cs typeface="Calibri" pitchFamily="34" charset="-120"/>
              </a:rPr>
              <a:t>.</a:t>
            </a:r>
          </a:p>
        </p:txBody>
      </p:sp>
      <p:sp>
        <p:nvSpPr>
          <p:cNvPr id="11" name="Text 9"/>
          <p:cNvSpPr/>
          <p:nvPr/>
        </p:nvSpPr>
        <p:spPr>
          <a:xfrm>
            <a:off x="640080" y="29626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932688" y="2962656"/>
            <a:ext cx="7799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74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cs typeface="Calibri" pitchFamily="34" charset="-120"/>
              </a:rPr>
              <a:t>Оценка качества </a:t>
            </a:r>
            <a:r>
              <a:rPr lang="en-US" sz="2000" dirty="0" err="1">
                <a:solidFill>
                  <a:srgbClr val="1A1A1A"/>
                </a:solidFill>
                <a:latin typeface="Calibri" pitchFamily="34" charset="0"/>
                <a:cs typeface="Calibri" pitchFamily="34" charset="-120"/>
              </a:rPr>
              <a:t>модели</a:t>
            </a:r>
            <a:r>
              <a:rPr lang="en-US" sz="2000" dirty="0">
                <a:solidFill>
                  <a:srgbClr val="1A1A1A"/>
                </a:solidFill>
                <a:latin typeface="Calibri" pitchFamily="34" charset="0"/>
                <a:cs typeface="Calibri" pitchFamily="34" charset="-120"/>
              </a:rPr>
              <a:t>.</a:t>
            </a:r>
          </a:p>
        </p:txBody>
      </p:sp>
      <p:sp>
        <p:nvSpPr>
          <p:cNvPr id="13" name="Text 11"/>
          <p:cNvSpPr/>
          <p:nvPr/>
        </p:nvSpPr>
        <p:spPr>
          <a:xfrm>
            <a:off x="640080" y="33832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932688" y="3383280"/>
            <a:ext cx="7799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74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cs typeface="Calibri" pitchFamily="34" charset="-120"/>
              </a:rPr>
              <a:t>Переобучение</a:t>
            </a: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</a:t>
            </a:r>
            <a:r>
              <a:rPr lang="en-US" sz="2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overfitting</a:t>
            </a: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).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30"/>
              </a:lnSpc>
              <a:buNone/>
            </a:pPr>
            <a:r>
              <a:rPr lang="en-US" sz="26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Что такое машинное обучение?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15544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932688" y="1554480"/>
            <a:ext cx="77998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74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cs typeface="Calibri" pitchFamily="34" charset="-120"/>
              </a:rPr>
              <a:t>Машинное обучение, это метод анализа данных, который автоматизирует построение аналитических </a:t>
            </a:r>
            <a:r>
              <a:rPr lang="en-US" sz="2000" dirty="0" err="1">
                <a:solidFill>
                  <a:srgbClr val="1A1A1A"/>
                </a:solidFill>
                <a:latin typeface="Calibri" pitchFamily="34" charset="0"/>
                <a:cs typeface="Calibri" pitchFamily="34" charset="-120"/>
              </a:rPr>
              <a:t>моделей</a:t>
            </a:r>
            <a:r>
              <a:rPr lang="en-US" sz="2000" dirty="0">
                <a:solidFill>
                  <a:srgbClr val="1A1A1A"/>
                </a:solidFill>
                <a:latin typeface="Calibri" pitchFamily="34" charset="0"/>
                <a:cs typeface="Calibri" pitchFamily="34" charset="-120"/>
              </a:rPr>
              <a:t>.</a:t>
            </a:r>
          </a:p>
        </p:txBody>
      </p:sp>
      <p:sp>
        <p:nvSpPr>
          <p:cNvPr id="5" name="Text 3"/>
          <p:cNvSpPr/>
          <p:nvPr/>
        </p:nvSpPr>
        <p:spPr>
          <a:xfrm>
            <a:off x="640080" y="224942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32688" y="2249424"/>
            <a:ext cx="77998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74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cs typeface="Calibri" pitchFamily="34" charset="-120"/>
              </a:rPr>
              <a:t>С помощью алгоритмов, которые итеративно учатся на данных, компьютер находит скрытые закономерности, </a:t>
            </a:r>
          </a:p>
        </p:txBody>
      </p:sp>
      <p:sp>
        <p:nvSpPr>
          <p:cNvPr id="7" name="Text 5"/>
          <p:cNvSpPr/>
          <p:nvPr/>
        </p:nvSpPr>
        <p:spPr>
          <a:xfrm>
            <a:off x="1097280" y="28437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389888" y="2843784"/>
            <a:ext cx="7342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74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cs typeface="Calibri" pitchFamily="34" charset="-120"/>
              </a:rPr>
              <a:t>без явного указания, где именно их искать</a:t>
            </a: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30"/>
              </a:lnSpc>
              <a:buNone/>
            </a:pPr>
            <a:r>
              <a:rPr lang="en-US" sz="26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Где применяется?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141732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96112" y="14173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обнаружение мошенничества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1856232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96112" y="185623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результаты веб-поиска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2295144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96112" y="2295144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реклама в реальном времени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40080" y="2734056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896112" y="2734056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кредитный скоринг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40080" y="3172968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96112" y="317296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прогноз отказов оборудования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40080" y="361188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896112" y="36118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новые модели ценообразования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40080" y="4050792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896112" y="405079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обнаружение сетевых вторжений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4663440" y="141732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4919472" y="14173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рекомендательные системы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4663440" y="1856232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4919472" y="185623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сегментация клиентов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4663440" y="2295144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4919472" y="2295144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анализ тональности текста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4663440" y="2734056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4919472" y="2734056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отток клиентов (churn)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4663440" y="3172968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4919472" y="317296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распознавание образов и изображений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4663440" y="361188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4919472" y="36118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фильтрация спама в почте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30"/>
              </a:lnSpc>
              <a:buNone/>
            </a:pPr>
            <a:r>
              <a:rPr lang="en-US" sz="26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Что такое нейросети?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14630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932688" y="1463040"/>
            <a:ext cx="77998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74"/>
              </a:lnSpc>
              <a:buNone/>
            </a:pPr>
            <a:r>
              <a:rPr lang="en-US" sz="2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Нейросети (neural networks)</a:t>
            </a: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это способ математически моделировать системы биологических нейронов.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21579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32688" y="2157984"/>
            <a:ext cx="77998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74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Такие сети решают задачи, недоступные многим другим алгоритмам, например классификацию изображений.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28529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32688" y="2852928"/>
            <a:ext cx="77998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74"/>
              </a:lnSpc>
              <a:buNone/>
            </a:pPr>
            <a:r>
              <a:rPr lang="en-US" sz="2000" dirty="0">
                <a:solidFill>
                  <a:srgbClr val="C26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Глубокое обучение (deep learning)</a:t>
            </a: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это просто нейросети с более чем одним скрытым слоем.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30"/>
              </a:lnSpc>
              <a:buNone/>
            </a:pPr>
            <a:r>
              <a:rPr lang="en-US" sz="26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Типы машинного обучения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15544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932688" y="1554480"/>
            <a:ext cx="7799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74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следующих разделах курса сосредоточимся на двух типах: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097280" y="197510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389888" y="1975104"/>
            <a:ext cx="7342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74"/>
              </a:lnSpc>
              <a:buNone/>
            </a:pPr>
            <a:r>
              <a:rPr lang="en-US" sz="2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Обучение с учителем (supervised learning)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097280" y="23957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389888" y="2395728"/>
            <a:ext cx="7342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74"/>
              </a:lnSpc>
              <a:buNone/>
            </a:pPr>
            <a:r>
              <a:rPr lang="en-US" sz="2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Обучение без учителя (unsupervised learning)</a:t>
            </a:r>
            <a:endParaRPr lang="en-US" sz="2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30"/>
              </a:lnSpc>
              <a:buNone/>
            </a:pPr>
            <a:r>
              <a:rPr lang="en-US" sz="26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Машинное обучение, нейросети, глубокое обучение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4206240" cy="3108960"/>
          </a:xfrm>
          <a:prstGeom prst="roundRect">
            <a:avLst>
              <a:gd name="adj" fmla="val 2353"/>
            </a:avLst>
          </a:prstGeom>
          <a:solidFill>
            <a:srgbClr val="EFF6FF"/>
          </a:solidFill>
          <a:ln w="1905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KZ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Машинное обучение (ML)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914400" y="2011680"/>
            <a:ext cx="3474720" cy="2194560"/>
          </a:xfrm>
          <a:prstGeom prst="roundRect">
            <a:avLst>
              <a:gd name="adj" fmla="val 3333"/>
            </a:avLst>
          </a:prstGeom>
          <a:solidFill>
            <a:srgbClr val="ECFDF3"/>
          </a:solidFill>
          <a:ln w="1905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KZ"/>
          </a:p>
        </p:txBody>
      </p:sp>
      <p:sp>
        <p:nvSpPr>
          <p:cNvPr id="6" name="Text 4"/>
          <p:cNvSpPr/>
          <p:nvPr/>
        </p:nvSpPr>
        <p:spPr>
          <a:xfrm>
            <a:off x="1005840" y="21031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Нейросети (neural networks)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325880" y="2697480"/>
            <a:ext cx="2651760" cy="1325880"/>
          </a:xfrm>
          <a:prstGeom prst="roundRect">
            <a:avLst>
              <a:gd name="adj" fmla="val 5517"/>
            </a:avLst>
          </a:prstGeom>
          <a:solidFill>
            <a:srgbClr val="FFF7ED"/>
          </a:solidFill>
          <a:ln w="19050">
            <a:solidFill>
              <a:srgbClr val="C2680C"/>
            </a:solidFill>
            <a:prstDash val="solid"/>
          </a:ln>
        </p:spPr>
        <p:txBody>
          <a:bodyPr/>
          <a:lstStyle/>
          <a:p>
            <a:endParaRPr lang="en-KZ"/>
          </a:p>
        </p:txBody>
      </p:sp>
      <p:sp>
        <p:nvSpPr>
          <p:cNvPr id="8" name="Text 6"/>
          <p:cNvSpPr/>
          <p:nvPr/>
        </p:nvSpPr>
        <p:spPr>
          <a:xfrm>
            <a:off x="1371600" y="2697480"/>
            <a:ext cx="25603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26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Глубокое обучение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C26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(deep learning)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212080" y="182880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468112" y="182880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Машинное обучение</a:t>
            </a: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автоматизированные аналитические модели.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212080" y="269748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468112" y="269748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Нейросети</a:t>
            </a: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архитектура ML по образцу биологических нейронов.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212080" y="356616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468112" y="356616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500" dirty="0">
                <a:solidFill>
                  <a:srgbClr val="C26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Глубокое обучение</a:t>
            </a: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нейросеть с более чем одним скрытым слоем.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30"/>
              </a:lnSpc>
              <a:buNone/>
            </a:pPr>
            <a:r>
              <a:rPr lang="en-US" sz="26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Двигаемся дальше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1920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932688" y="1920240"/>
            <a:ext cx="7799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74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Начнём с одной из самых частых задач машинного обучения</a:t>
            </a: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1097280" y="22402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389888" y="2240280"/>
            <a:ext cx="7342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74"/>
              </a:lnSpc>
              <a:buNone/>
            </a:pPr>
            <a:r>
              <a:rPr lang="en-US" sz="2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обучения с учителем (supervised learning)</a:t>
            </a: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2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0"/>
            <a:ext cx="8229600" cy="514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Обучение с учителем</a:t>
            </a:r>
            <a:endParaRPr lang="en-US" sz="4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30"/>
              </a:lnSpc>
              <a:buNone/>
            </a:pPr>
            <a:r>
              <a:rPr lang="en-US" sz="26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Обучение с учителем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14630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932688" y="1463040"/>
            <a:ext cx="77998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74"/>
              </a:lnSpc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Алгоритмы обучения с учителем учат на </a:t>
            </a:r>
            <a:r>
              <a:rPr lang="en-US" sz="17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размеченных (labeled)</a:t>
            </a: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примерах, где для входа известен желаемый выход.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40080" y="21579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32688" y="2157984"/>
            <a:ext cx="7799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74"/>
              </a:lnSpc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Например, у фрагмента текста может быть метка категории: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097280" y="25786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389888" y="2578608"/>
            <a:ext cx="7342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74"/>
              </a:lnSpc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спам или обычное письмо (spam vs legitimate)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97280" y="29992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389888" y="2999232"/>
            <a:ext cx="7342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74"/>
              </a:lnSpc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положительный или отрицательный отзыв о фильме</a:t>
            </a:r>
            <a:endParaRPr lang="en-US" sz="1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30"/>
              </a:lnSpc>
              <a:buNone/>
            </a:pPr>
            <a:r>
              <a:rPr lang="en-US" sz="26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Как модель учится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15544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932688" y="1554480"/>
            <a:ext cx="77998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74"/>
              </a:lnSpc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Сеть получает набор входов вместе с соответствующими верными выходами.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40080" y="224942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32688" y="2249424"/>
            <a:ext cx="77998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74"/>
              </a:lnSpc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Алгоритм учится, сравнивая свой фактический выход с верным, чтобы найти ошибки.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40080" y="29443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32688" y="2944368"/>
            <a:ext cx="7799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74"/>
              </a:lnSpc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Затем модель корректируется соответствующим образом.</a:t>
            </a:r>
            <a:endParaRPr lang="en-US" sz="1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30"/>
              </a:lnSpc>
              <a:buNone/>
            </a:pPr>
            <a:r>
              <a:rPr lang="en-US" sz="26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Где это используется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1920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932688" y="1920240"/>
            <a:ext cx="77998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74"/>
              </a:lnSpc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Обучение с учителем обычно применяют там, где </a:t>
            </a:r>
            <a:r>
              <a:rPr lang="en-US" sz="17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исторические данные</a:t>
            </a: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предсказывают вероятные будущие события.</a:t>
            </a:r>
            <a:endParaRPr lang="en-US" sz="17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30"/>
              </a:lnSpc>
              <a:buNone/>
            </a:pPr>
            <a:r>
              <a:rPr lang="en-US" sz="26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Процесс машинного обучения (ML process)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20040" y="2743200"/>
            <a:ext cx="1371600" cy="731520"/>
          </a:xfrm>
          <a:prstGeom prst="roundRect">
            <a:avLst>
              <a:gd name="adj" fmla="val 7500"/>
            </a:avLst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KZ"/>
          </a:p>
        </p:txBody>
      </p:sp>
      <p:sp>
        <p:nvSpPr>
          <p:cNvPr id="4" name="Text 2"/>
          <p:cNvSpPr/>
          <p:nvPr/>
        </p:nvSpPr>
        <p:spPr>
          <a:xfrm>
            <a:off x="356616" y="2743200"/>
            <a:ext cx="12984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Сбор</a:t>
            </a:r>
            <a:endParaRPr lang="en-US" sz="1150" dirty="0"/>
          </a:p>
          <a:p>
            <a:pPr marL="0" indent="0" algn="ctr">
              <a:lnSpc>
                <a:spcPts val="13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данных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1874520" y="2743200"/>
            <a:ext cx="1371600" cy="731520"/>
          </a:xfrm>
          <a:prstGeom prst="roundRect">
            <a:avLst>
              <a:gd name="adj" fmla="val 7500"/>
            </a:avLst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KZ"/>
          </a:p>
        </p:txBody>
      </p:sp>
      <p:sp>
        <p:nvSpPr>
          <p:cNvPr id="6" name="Text 4"/>
          <p:cNvSpPr/>
          <p:nvPr/>
        </p:nvSpPr>
        <p:spPr>
          <a:xfrm>
            <a:off x="1911096" y="2743200"/>
            <a:ext cx="12984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Очистка</a:t>
            </a:r>
            <a:endParaRPr lang="en-US" sz="1150" dirty="0"/>
          </a:p>
          <a:p>
            <a:pPr marL="0" indent="0" algn="ctr">
              <a:lnSpc>
                <a:spcPts val="13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данных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1709928" y="3108960"/>
            <a:ext cx="146304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  <p:txBody>
          <a:bodyPr/>
          <a:lstStyle/>
          <a:p>
            <a:endParaRPr lang="en-KZ"/>
          </a:p>
        </p:txBody>
      </p:sp>
      <p:sp>
        <p:nvSpPr>
          <p:cNvPr id="8" name="Shape 6"/>
          <p:cNvSpPr/>
          <p:nvPr/>
        </p:nvSpPr>
        <p:spPr>
          <a:xfrm>
            <a:off x="3429000" y="2743200"/>
            <a:ext cx="1371600" cy="731520"/>
          </a:xfrm>
          <a:prstGeom prst="roundRect">
            <a:avLst>
              <a:gd name="adj" fmla="val 7500"/>
            </a:avLst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KZ"/>
          </a:p>
        </p:txBody>
      </p:sp>
      <p:sp>
        <p:nvSpPr>
          <p:cNvPr id="9" name="Text 7"/>
          <p:cNvSpPr/>
          <p:nvPr/>
        </p:nvSpPr>
        <p:spPr>
          <a:xfrm>
            <a:off x="3465576" y="2743200"/>
            <a:ext cx="12984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Обучение</a:t>
            </a:r>
            <a:endParaRPr lang="en-US" sz="1150" dirty="0"/>
          </a:p>
          <a:p>
            <a:pPr marL="0" indent="0" algn="ctr">
              <a:lnSpc>
                <a:spcPts val="13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модели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264408" y="3108960"/>
            <a:ext cx="146304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  <p:txBody>
          <a:bodyPr/>
          <a:lstStyle/>
          <a:p>
            <a:endParaRPr lang="en-KZ"/>
          </a:p>
        </p:txBody>
      </p:sp>
      <p:sp>
        <p:nvSpPr>
          <p:cNvPr id="11" name="Shape 9"/>
          <p:cNvSpPr/>
          <p:nvPr/>
        </p:nvSpPr>
        <p:spPr>
          <a:xfrm>
            <a:off x="4983480" y="2743200"/>
            <a:ext cx="1371600" cy="731520"/>
          </a:xfrm>
          <a:prstGeom prst="roundRect">
            <a:avLst>
              <a:gd name="adj" fmla="val 7500"/>
            </a:avLst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KZ"/>
          </a:p>
        </p:txBody>
      </p:sp>
      <p:sp>
        <p:nvSpPr>
          <p:cNvPr id="12" name="Text 10"/>
          <p:cNvSpPr/>
          <p:nvPr/>
        </p:nvSpPr>
        <p:spPr>
          <a:xfrm>
            <a:off x="5020056" y="2743200"/>
            <a:ext cx="12984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Тест</a:t>
            </a:r>
            <a:endParaRPr lang="en-US" sz="1150" dirty="0"/>
          </a:p>
          <a:p>
            <a:pPr marL="0" indent="0" algn="ctr">
              <a:lnSpc>
                <a:spcPts val="13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модели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818888" y="3108960"/>
            <a:ext cx="146304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  <p:txBody>
          <a:bodyPr/>
          <a:lstStyle/>
          <a:p>
            <a:endParaRPr lang="en-KZ"/>
          </a:p>
        </p:txBody>
      </p:sp>
      <p:sp>
        <p:nvSpPr>
          <p:cNvPr id="14" name="Shape 12"/>
          <p:cNvSpPr/>
          <p:nvPr/>
        </p:nvSpPr>
        <p:spPr>
          <a:xfrm>
            <a:off x="6537960" y="2743200"/>
            <a:ext cx="1371600" cy="731520"/>
          </a:xfrm>
          <a:prstGeom prst="roundRect">
            <a:avLst>
              <a:gd name="adj" fmla="val 7500"/>
            </a:avLst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KZ"/>
          </a:p>
        </p:txBody>
      </p:sp>
      <p:sp>
        <p:nvSpPr>
          <p:cNvPr id="15" name="Text 13"/>
          <p:cNvSpPr/>
          <p:nvPr/>
        </p:nvSpPr>
        <p:spPr>
          <a:xfrm>
            <a:off x="6574536" y="2743200"/>
            <a:ext cx="12984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Внедрение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373368" y="3108960"/>
            <a:ext cx="146304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  <p:txBody>
          <a:bodyPr/>
          <a:lstStyle/>
          <a:p>
            <a:endParaRPr lang="en-KZ"/>
          </a:p>
        </p:txBody>
      </p:sp>
      <p:sp>
        <p:nvSpPr>
          <p:cNvPr id="17" name="Shape 15"/>
          <p:cNvSpPr/>
          <p:nvPr/>
        </p:nvSpPr>
        <p:spPr>
          <a:xfrm>
            <a:off x="4846320" y="1417320"/>
            <a:ext cx="1554480" cy="658368"/>
          </a:xfrm>
          <a:prstGeom prst="roundRect">
            <a:avLst>
              <a:gd name="adj" fmla="val 8333"/>
            </a:avLst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KZ"/>
          </a:p>
        </p:txBody>
      </p:sp>
      <p:sp>
        <p:nvSpPr>
          <p:cNvPr id="18" name="Text 16"/>
          <p:cNvSpPr/>
          <p:nvPr/>
        </p:nvSpPr>
        <p:spPr>
          <a:xfrm>
            <a:off x="4882896" y="1417320"/>
            <a:ext cx="14813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Тестовые данные</a:t>
            </a:r>
            <a:endParaRPr lang="en-US" sz="1150" dirty="0"/>
          </a:p>
          <a:p>
            <a:pPr marL="0" indent="0" algn="ctr">
              <a:lnSpc>
                <a:spcPts val="13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(test)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669280" y="2075688"/>
            <a:ext cx="0" cy="649224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  <p:txBody>
          <a:bodyPr/>
          <a:lstStyle/>
          <a:p>
            <a:endParaRPr lang="en-KZ"/>
          </a:p>
        </p:txBody>
      </p:sp>
      <p:sp>
        <p:nvSpPr>
          <p:cNvPr id="20" name="Text 18"/>
          <p:cNvSpPr/>
          <p:nvPr/>
        </p:nvSpPr>
        <p:spPr>
          <a:xfrm>
            <a:off x="2926080" y="2217421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000"/>
              </a:lnSpc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обучающие</a:t>
            </a:r>
            <a:endParaRPr lang="en-US" sz="950" dirty="0"/>
          </a:p>
          <a:p>
            <a:pPr marL="0" indent="0" algn="ctr">
              <a:lnSpc>
                <a:spcPts val="1000"/>
              </a:lnSpc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данные (train)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 flipH="1">
            <a:off x="4114814" y="3886200"/>
            <a:ext cx="1554465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  <p:txBody>
          <a:bodyPr/>
          <a:lstStyle/>
          <a:p>
            <a:endParaRPr lang="en-KZ"/>
          </a:p>
        </p:txBody>
      </p:sp>
      <p:sp>
        <p:nvSpPr>
          <p:cNvPr id="22" name="Shape 20"/>
          <p:cNvSpPr/>
          <p:nvPr/>
        </p:nvSpPr>
        <p:spPr>
          <a:xfrm>
            <a:off x="5669280" y="3474720"/>
            <a:ext cx="0" cy="41148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en-KZ"/>
          </a:p>
        </p:txBody>
      </p:sp>
      <p:sp>
        <p:nvSpPr>
          <p:cNvPr id="23" name="Shape 21"/>
          <p:cNvSpPr/>
          <p:nvPr/>
        </p:nvSpPr>
        <p:spPr>
          <a:xfrm>
            <a:off x="4114800" y="3474720"/>
            <a:ext cx="0" cy="41148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en-KZ"/>
          </a:p>
        </p:txBody>
      </p:sp>
      <p:sp>
        <p:nvSpPr>
          <p:cNvPr id="24" name="Text 22"/>
          <p:cNvSpPr/>
          <p:nvPr/>
        </p:nvSpPr>
        <p:spPr>
          <a:xfrm>
            <a:off x="3154680" y="39319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подбор параметров (adjust parameters)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40080" y="44348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Полный процесс. Дальше разберём его по шагам.</a:t>
            </a:r>
            <a:endParaRPr lang="en-US" sz="1500" dirty="0"/>
          </a:p>
        </p:txBody>
      </p:sp>
      <p:sp>
        <p:nvSpPr>
          <p:cNvPr id="26" name="Shape 19">
            <a:extLst>
              <a:ext uri="{FF2B5EF4-FFF2-40B4-BE49-F238E27FC236}">
                <a16:creationId xmlns:a16="http://schemas.microsoft.com/office/drawing/2014/main" id="{395032BF-4848-9AB7-EEC9-CD6FA2EF576A}"/>
              </a:ext>
            </a:extLst>
          </p:cNvPr>
          <p:cNvSpPr/>
          <p:nvPr/>
        </p:nvSpPr>
        <p:spPr>
          <a:xfrm>
            <a:off x="4114800" y="1760222"/>
            <a:ext cx="731520" cy="5442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  <p:txBody>
          <a:bodyPr/>
          <a:lstStyle/>
          <a:p>
            <a:endParaRPr lang="en-KZ"/>
          </a:p>
        </p:txBody>
      </p:sp>
      <p:sp>
        <p:nvSpPr>
          <p:cNvPr id="27" name="Shape 20">
            <a:extLst>
              <a:ext uri="{FF2B5EF4-FFF2-40B4-BE49-F238E27FC236}">
                <a16:creationId xmlns:a16="http://schemas.microsoft.com/office/drawing/2014/main" id="{B34374FE-505F-390D-E92D-7AF8547C7FED}"/>
              </a:ext>
            </a:extLst>
          </p:cNvPr>
          <p:cNvSpPr/>
          <p:nvPr/>
        </p:nvSpPr>
        <p:spPr>
          <a:xfrm>
            <a:off x="4114800" y="1764792"/>
            <a:ext cx="0" cy="978408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en-KZ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30"/>
              </a:lnSpc>
              <a:buNone/>
            </a:pPr>
            <a:r>
              <a:rPr lang="en-US" sz="26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Процесс машинного обучения (ML process)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20040" y="2743200"/>
            <a:ext cx="1371600" cy="731520"/>
          </a:xfrm>
          <a:prstGeom prst="roundRect">
            <a:avLst>
              <a:gd name="adj" fmla="val 7500"/>
            </a:avLst>
          </a:prstGeom>
          <a:solidFill>
            <a:srgbClr val="EFF6FF"/>
          </a:solidFill>
          <a:ln w="1905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KZ"/>
          </a:p>
        </p:txBody>
      </p:sp>
      <p:sp>
        <p:nvSpPr>
          <p:cNvPr id="4" name="Text 2"/>
          <p:cNvSpPr/>
          <p:nvPr/>
        </p:nvSpPr>
        <p:spPr>
          <a:xfrm>
            <a:off x="356616" y="2743200"/>
            <a:ext cx="12984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Сбор</a:t>
            </a:r>
            <a:endParaRPr lang="en-US" sz="1150" dirty="0"/>
          </a:p>
          <a:p>
            <a:pPr marL="0" indent="0" algn="ctr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данных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640080" y="44348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Соберите данные: клиенты, датчики и так далее.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30"/>
              </a:lnSpc>
              <a:buNone/>
            </a:pPr>
            <a:r>
              <a:rPr lang="en-US" sz="26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Процесс машинного обучения (ML process)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20040" y="2743200"/>
            <a:ext cx="1371600" cy="731520"/>
          </a:xfrm>
          <a:prstGeom prst="roundRect">
            <a:avLst>
              <a:gd name="adj" fmla="val 7500"/>
            </a:avLst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KZ"/>
          </a:p>
        </p:txBody>
      </p:sp>
      <p:sp>
        <p:nvSpPr>
          <p:cNvPr id="4" name="Text 2"/>
          <p:cNvSpPr/>
          <p:nvPr/>
        </p:nvSpPr>
        <p:spPr>
          <a:xfrm>
            <a:off x="356616" y="2743200"/>
            <a:ext cx="12984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Сбор</a:t>
            </a:r>
            <a:endParaRPr lang="en-US" sz="1150" dirty="0"/>
          </a:p>
          <a:p>
            <a:pPr marL="0" indent="0" algn="ctr">
              <a:lnSpc>
                <a:spcPts val="13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данных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1874520" y="2743200"/>
            <a:ext cx="1371600" cy="731520"/>
          </a:xfrm>
          <a:prstGeom prst="roundRect">
            <a:avLst>
              <a:gd name="adj" fmla="val 7500"/>
            </a:avLst>
          </a:prstGeom>
          <a:solidFill>
            <a:srgbClr val="EFF6FF"/>
          </a:solidFill>
          <a:ln w="1905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KZ"/>
          </a:p>
        </p:txBody>
      </p:sp>
      <p:sp>
        <p:nvSpPr>
          <p:cNvPr id="6" name="Text 4"/>
          <p:cNvSpPr/>
          <p:nvPr/>
        </p:nvSpPr>
        <p:spPr>
          <a:xfrm>
            <a:off x="1911096" y="2743200"/>
            <a:ext cx="12984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Очистка</a:t>
            </a:r>
            <a:endParaRPr lang="en-US" sz="1150" dirty="0"/>
          </a:p>
          <a:p>
            <a:pPr marL="0" indent="0" algn="ctr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данных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1709928" y="3108960"/>
            <a:ext cx="146304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  <p:txBody>
          <a:bodyPr/>
          <a:lstStyle/>
          <a:p>
            <a:endParaRPr lang="en-KZ"/>
          </a:p>
        </p:txBody>
      </p:sp>
      <p:sp>
        <p:nvSpPr>
          <p:cNvPr id="8" name="Text 6"/>
          <p:cNvSpPr/>
          <p:nvPr/>
        </p:nvSpPr>
        <p:spPr>
          <a:xfrm>
            <a:off x="640080" y="44348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Очистите и приведите данные в форму (pandas).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30"/>
              </a:lnSpc>
              <a:buNone/>
            </a:pPr>
            <a:r>
              <a:rPr lang="en-US" sz="26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Процесс машинного обучения (ML process)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20040" y="2743200"/>
            <a:ext cx="1371600" cy="731520"/>
          </a:xfrm>
          <a:prstGeom prst="roundRect">
            <a:avLst>
              <a:gd name="adj" fmla="val 7500"/>
            </a:avLst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KZ"/>
          </a:p>
        </p:txBody>
      </p:sp>
      <p:sp>
        <p:nvSpPr>
          <p:cNvPr id="4" name="Text 2"/>
          <p:cNvSpPr/>
          <p:nvPr/>
        </p:nvSpPr>
        <p:spPr>
          <a:xfrm>
            <a:off x="356616" y="2743200"/>
            <a:ext cx="12984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Сбор</a:t>
            </a:r>
            <a:endParaRPr lang="en-US" sz="1150" dirty="0"/>
          </a:p>
          <a:p>
            <a:pPr marL="0" indent="0" algn="ctr">
              <a:lnSpc>
                <a:spcPts val="13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данных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1874520" y="2743200"/>
            <a:ext cx="1371600" cy="731520"/>
          </a:xfrm>
          <a:prstGeom prst="roundRect">
            <a:avLst>
              <a:gd name="adj" fmla="val 7500"/>
            </a:avLst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KZ"/>
          </a:p>
        </p:txBody>
      </p:sp>
      <p:sp>
        <p:nvSpPr>
          <p:cNvPr id="6" name="Text 4"/>
          <p:cNvSpPr/>
          <p:nvPr/>
        </p:nvSpPr>
        <p:spPr>
          <a:xfrm>
            <a:off x="1911096" y="2743200"/>
            <a:ext cx="12984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Очистка</a:t>
            </a:r>
            <a:endParaRPr lang="en-US" sz="1150" dirty="0"/>
          </a:p>
          <a:p>
            <a:pPr marL="0" indent="0" algn="ctr">
              <a:lnSpc>
                <a:spcPts val="13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данных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846320" y="1417320"/>
            <a:ext cx="1554480" cy="658368"/>
          </a:xfrm>
          <a:prstGeom prst="roundRect">
            <a:avLst>
              <a:gd name="adj" fmla="val 8333"/>
            </a:avLst>
          </a:prstGeom>
          <a:solidFill>
            <a:srgbClr val="EFF6FF"/>
          </a:solidFill>
          <a:ln w="1905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KZ"/>
          </a:p>
        </p:txBody>
      </p:sp>
      <p:sp>
        <p:nvSpPr>
          <p:cNvPr id="9" name="Text 7"/>
          <p:cNvSpPr/>
          <p:nvPr/>
        </p:nvSpPr>
        <p:spPr>
          <a:xfrm>
            <a:off x="4882896" y="1417320"/>
            <a:ext cx="14813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Тестовые данные</a:t>
            </a:r>
            <a:endParaRPr lang="en-US" sz="1150" dirty="0"/>
          </a:p>
          <a:p>
            <a:pPr marL="0" indent="0" algn="ctr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(test)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40080" y="44348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Часть данных откладываем как тестовые, на обучающих учим модель.</a:t>
            </a:r>
            <a:endParaRPr lang="en-US" sz="1500" dirty="0"/>
          </a:p>
        </p:txBody>
      </p:sp>
      <p:sp>
        <p:nvSpPr>
          <p:cNvPr id="13" name="Shape 6">
            <a:extLst>
              <a:ext uri="{FF2B5EF4-FFF2-40B4-BE49-F238E27FC236}">
                <a16:creationId xmlns:a16="http://schemas.microsoft.com/office/drawing/2014/main" id="{C0C423FF-BF2E-C9D9-EBDF-14C2224F34AE}"/>
              </a:ext>
            </a:extLst>
          </p:cNvPr>
          <p:cNvSpPr/>
          <p:nvPr/>
        </p:nvSpPr>
        <p:spPr>
          <a:xfrm>
            <a:off x="3429000" y="2743200"/>
            <a:ext cx="1371600" cy="731520"/>
          </a:xfrm>
          <a:prstGeom prst="roundRect">
            <a:avLst>
              <a:gd name="adj" fmla="val 7500"/>
            </a:avLst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KZ" dirty="0"/>
          </a:p>
        </p:txBody>
      </p:sp>
      <p:sp>
        <p:nvSpPr>
          <p:cNvPr id="14" name="Shape 5">
            <a:extLst>
              <a:ext uri="{FF2B5EF4-FFF2-40B4-BE49-F238E27FC236}">
                <a16:creationId xmlns:a16="http://schemas.microsoft.com/office/drawing/2014/main" id="{039F281E-7B45-4D1F-A4C3-2414743E086C}"/>
              </a:ext>
            </a:extLst>
          </p:cNvPr>
          <p:cNvSpPr/>
          <p:nvPr/>
        </p:nvSpPr>
        <p:spPr>
          <a:xfrm>
            <a:off x="1709928" y="3108960"/>
            <a:ext cx="146304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  <p:txBody>
          <a:bodyPr/>
          <a:lstStyle/>
          <a:p>
            <a:endParaRPr lang="en-KZ"/>
          </a:p>
        </p:txBody>
      </p:sp>
      <p:sp>
        <p:nvSpPr>
          <p:cNvPr id="15" name="Shape 5">
            <a:extLst>
              <a:ext uri="{FF2B5EF4-FFF2-40B4-BE49-F238E27FC236}">
                <a16:creationId xmlns:a16="http://schemas.microsoft.com/office/drawing/2014/main" id="{3F3E2D54-6070-D8C2-0F8B-4EE8E7D0B650}"/>
              </a:ext>
            </a:extLst>
          </p:cNvPr>
          <p:cNvSpPr/>
          <p:nvPr/>
        </p:nvSpPr>
        <p:spPr>
          <a:xfrm>
            <a:off x="3254829" y="3108960"/>
            <a:ext cx="146304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  <p:txBody>
          <a:bodyPr/>
          <a:lstStyle/>
          <a:p>
            <a:endParaRPr lang="en-KZ"/>
          </a:p>
        </p:txBody>
      </p:sp>
      <p:sp>
        <p:nvSpPr>
          <p:cNvPr id="11" name="Text 9"/>
          <p:cNvSpPr/>
          <p:nvPr/>
        </p:nvSpPr>
        <p:spPr>
          <a:xfrm>
            <a:off x="3401133" y="288036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000"/>
              </a:lnSpc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обучающие</a:t>
            </a:r>
            <a:endParaRPr lang="en-US" sz="950" dirty="0"/>
          </a:p>
          <a:p>
            <a:pPr marL="0" indent="0" algn="ctr">
              <a:lnSpc>
                <a:spcPts val="1000"/>
              </a:lnSpc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данные (train)</a:t>
            </a:r>
            <a:endParaRPr lang="en-US" sz="950" dirty="0"/>
          </a:p>
        </p:txBody>
      </p:sp>
      <p:sp>
        <p:nvSpPr>
          <p:cNvPr id="17" name="Shape 19">
            <a:extLst>
              <a:ext uri="{FF2B5EF4-FFF2-40B4-BE49-F238E27FC236}">
                <a16:creationId xmlns:a16="http://schemas.microsoft.com/office/drawing/2014/main" id="{CEB3679D-2EE4-EE95-365C-557DC5BE586D}"/>
              </a:ext>
            </a:extLst>
          </p:cNvPr>
          <p:cNvSpPr/>
          <p:nvPr/>
        </p:nvSpPr>
        <p:spPr>
          <a:xfrm>
            <a:off x="4114800" y="1764792"/>
            <a:ext cx="731520" cy="871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  <p:txBody>
          <a:bodyPr/>
          <a:lstStyle/>
          <a:p>
            <a:endParaRPr lang="en-KZ"/>
          </a:p>
        </p:txBody>
      </p:sp>
      <p:sp>
        <p:nvSpPr>
          <p:cNvPr id="18" name="Shape 20">
            <a:extLst>
              <a:ext uri="{FF2B5EF4-FFF2-40B4-BE49-F238E27FC236}">
                <a16:creationId xmlns:a16="http://schemas.microsoft.com/office/drawing/2014/main" id="{8ABA29A6-8B73-AF9F-7CE3-1C1C3BCBFF68}"/>
              </a:ext>
            </a:extLst>
          </p:cNvPr>
          <p:cNvSpPr/>
          <p:nvPr/>
        </p:nvSpPr>
        <p:spPr>
          <a:xfrm>
            <a:off x="4114800" y="1764792"/>
            <a:ext cx="0" cy="978408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en-KZ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30"/>
              </a:lnSpc>
              <a:buNone/>
            </a:pPr>
            <a:r>
              <a:rPr lang="en-US" sz="26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Процесс машинного обучения (ML process)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20040" y="2743200"/>
            <a:ext cx="1371600" cy="731520"/>
          </a:xfrm>
          <a:prstGeom prst="roundRect">
            <a:avLst>
              <a:gd name="adj" fmla="val 7500"/>
            </a:avLst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KZ"/>
          </a:p>
        </p:txBody>
      </p:sp>
      <p:sp>
        <p:nvSpPr>
          <p:cNvPr id="4" name="Text 2"/>
          <p:cNvSpPr/>
          <p:nvPr/>
        </p:nvSpPr>
        <p:spPr>
          <a:xfrm>
            <a:off x="356616" y="2743200"/>
            <a:ext cx="12984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Сбор</a:t>
            </a:r>
            <a:endParaRPr lang="en-US" sz="1150" dirty="0"/>
          </a:p>
          <a:p>
            <a:pPr marL="0" indent="0" algn="ctr">
              <a:lnSpc>
                <a:spcPts val="13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данных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1874520" y="2743200"/>
            <a:ext cx="1371600" cy="731520"/>
          </a:xfrm>
          <a:prstGeom prst="roundRect">
            <a:avLst>
              <a:gd name="adj" fmla="val 7500"/>
            </a:avLst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KZ"/>
          </a:p>
        </p:txBody>
      </p:sp>
      <p:sp>
        <p:nvSpPr>
          <p:cNvPr id="6" name="Text 4"/>
          <p:cNvSpPr/>
          <p:nvPr/>
        </p:nvSpPr>
        <p:spPr>
          <a:xfrm>
            <a:off x="1911096" y="2743200"/>
            <a:ext cx="12984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Очистка</a:t>
            </a:r>
            <a:endParaRPr lang="en-US" sz="1150" dirty="0"/>
          </a:p>
          <a:p>
            <a:pPr marL="0" indent="0" algn="ctr">
              <a:lnSpc>
                <a:spcPts val="13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данных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1709928" y="3108960"/>
            <a:ext cx="146304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  <p:txBody>
          <a:bodyPr/>
          <a:lstStyle/>
          <a:p>
            <a:endParaRPr lang="en-KZ"/>
          </a:p>
        </p:txBody>
      </p:sp>
      <p:sp>
        <p:nvSpPr>
          <p:cNvPr id="8" name="Shape 6"/>
          <p:cNvSpPr/>
          <p:nvPr/>
        </p:nvSpPr>
        <p:spPr>
          <a:xfrm>
            <a:off x="3429000" y="2743200"/>
            <a:ext cx="1371600" cy="731520"/>
          </a:xfrm>
          <a:prstGeom prst="roundRect">
            <a:avLst>
              <a:gd name="adj" fmla="val 7500"/>
            </a:avLst>
          </a:prstGeom>
          <a:solidFill>
            <a:srgbClr val="EFF6FF"/>
          </a:solidFill>
          <a:ln w="1905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KZ"/>
          </a:p>
        </p:txBody>
      </p:sp>
      <p:sp>
        <p:nvSpPr>
          <p:cNvPr id="9" name="Text 7"/>
          <p:cNvSpPr/>
          <p:nvPr/>
        </p:nvSpPr>
        <p:spPr>
          <a:xfrm>
            <a:off x="3465576" y="2743200"/>
            <a:ext cx="12984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Обучение</a:t>
            </a:r>
            <a:endParaRPr lang="en-US" sz="1150" dirty="0"/>
          </a:p>
          <a:p>
            <a:pPr marL="0" indent="0" algn="ctr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модели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264408" y="3108960"/>
            <a:ext cx="146304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  <p:txBody>
          <a:bodyPr/>
          <a:lstStyle/>
          <a:p>
            <a:endParaRPr lang="en-KZ"/>
          </a:p>
        </p:txBody>
      </p:sp>
      <p:sp>
        <p:nvSpPr>
          <p:cNvPr id="11" name="Shape 9"/>
          <p:cNvSpPr/>
          <p:nvPr/>
        </p:nvSpPr>
        <p:spPr>
          <a:xfrm>
            <a:off x="4846320" y="1417320"/>
            <a:ext cx="1554480" cy="658368"/>
          </a:xfrm>
          <a:prstGeom prst="roundRect">
            <a:avLst>
              <a:gd name="adj" fmla="val 8333"/>
            </a:avLst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KZ"/>
          </a:p>
        </p:txBody>
      </p:sp>
      <p:sp>
        <p:nvSpPr>
          <p:cNvPr id="12" name="Text 10"/>
          <p:cNvSpPr/>
          <p:nvPr/>
        </p:nvSpPr>
        <p:spPr>
          <a:xfrm>
            <a:off x="4882896" y="1417320"/>
            <a:ext cx="14813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Тестовые данные</a:t>
            </a:r>
            <a:endParaRPr lang="en-US" sz="1150" dirty="0"/>
          </a:p>
          <a:p>
            <a:pPr marL="0" indent="0" algn="ctr">
              <a:lnSpc>
                <a:spcPts val="13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(test)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2810692" y="2212848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000"/>
              </a:lnSpc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обучающие</a:t>
            </a:r>
            <a:endParaRPr lang="en-US" sz="950" dirty="0"/>
          </a:p>
          <a:p>
            <a:pPr marL="0" indent="0" algn="ctr">
              <a:lnSpc>
                <a:spcPts val="1000"/>
              </a:lnSpc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данные (train)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40080" y="44348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Обучаем и строим модель.</a:t>
            </a:r>
            <a:endParaRPr lang="en-US" sz="1500" dirty="0"/>
          </a:p>
        </p:txBody>
      </p:sp>
      <p:sp>
        <p:nvSpPr>
          <p:cNvPr id="17" name="Shape 19">
            <a:extLst>
              <a:ext uri="{FF2B5EF4-FFF2-40B4-BE49-F238E27FC236}">
                <a16:creationId xmlns:a16="http://schemas.microsoft.com/office/drawing/2014/main" id="{4782063B-5556-A8CB-E503-D9E28562CE81}"/>
              </a:ext>
            </a:extLst>
          </p:cNvPr>
          <p:cNvSpPr/>
          <p:nvPr/>
        </p:nvSpPr>
        <p:spPr>
          <a:xfrm>
            <a:off x="4114800" y="1764792"/>
            <a:ext cx="731520" cy="871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  <p:txBody>
          <a:bodyPr/>
          <a:lstStyle/>
          <a:p>
            <a:endParaRPr lang="en-KZ"/>
          </a:p>
        </p:txBody>
      </p:sp>
      <p:sp>
        <p:nvSpPr>
          <p:cNvPr id="18" name="Shape 20">
            <a:extLst>
              <a:ext uri="{FF2B5EF4-FFF2-40B4-BE49-F238E27FC236}">
                <a16:creationId xmlns:a16="http://schemas.microsoft.com/office/drawing/2014/main" id="{E3897423-39E6-7BE9-EED5-DBCB0C651C8D}"/>
              </a:ext>
            </a:extLst>
          </p:cNvPr>
          <p:cNvSpPr/>
          <p:nvPr/>
        </p:nvSpPr>
        <p:spPr>
          <a:xfrm>
            <a:off x="4114800" y="1764792"/>
            <a:ext cx="0" cy="978408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en-KZ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30"/>
              </a:lnSpc>
              <a:buNone/>
            </a:pPr>
            <a:r>
              <a:rPr lang="en-US" sz="26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Процесс машинного обучения (ML process)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20040" y="2743200"/>
            <a:ext cx="1371600" cy="731520"/>
          </a:xfrm>
          <a:prstGeom prst="roundRect">
            <a:avLst>
              <a:gd name="adj" fmla="val 7500"/>
            </a:avLst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KZ"/>
          </a:p>
        </p:txBody>
      </p:sp>
      <p:sp>
        <p:nvSpPr>
          <p:cNvPr id="4" name="Text 2"/>
          <p:cNvSpPr/>
          <p:nvPr/>
        </p:nvSpPr>
        <p:spPr>
          <a:xfrm>
            <a:off x="356616" y="2743200"/>
            <a:ext cx="12984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Сбор</a:t>
            </a:r>
            <a:endParaRPr lang="en-US" sz="1150" dirty="0"/>
          </a:p>
          <a:p>
            <a:pPr marL="0" indent="0" algn="ctr">
              <a:lnSpc>
                <a:spcPts val="13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данных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1874520" y="2743200"/>
            <a:ext cx="1371600" cy="731520"/>
          </a:xfrm>
          <a:prstGeom prst="roundRect">
            <a:avLst>
              <a:gd name="adj" fmla="val 7500"/>
            </a:avLst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KZ"/>
          </a:p>
        </p:txBody>
      </p:sp>
      <p:sp>
        <p:nvSpPr>
          <p:cNvPr id="6" name="Text 4"/>
          <p:cNvSpPr/>
          <p:nvPr/>
        </p:nvSpPr>
        <p:spPr>
          <a:xfrm>
            <a:off x="1911096" y="2743200"/>
            <a:ext cx="12984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Очистка</a:t>
            </a:r>
            <a:endParaRPr lang="en-US" sz="1150" dirty="0"/>
          </a:p>
          <a:p>
            <a:pPr marL="0" indent="0" algn="ctr">
              <a:lnSpc>
                <a:spcPts val="13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данных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1709928" y="3108960"/>
            <a:ext cx="146304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  <p:txBody>
          <a:bodyPr/>
          <a:lstStyle/>
          <a:p>
            <a:endParaRPr lang="en-KZ"/>
          </a:p>
        </p:txBody>
      </p:sp>
      <p:sp>
        <p:nvSpPr>
          <p:cNvPr id="8" name="Shape 6"/>
          <p:cNvSpPr/>
          <p:nvPr/>
        </p:nvSpPr>
        <p:spPr>
          <a:xfrm>
            <a:off x="3429000" y="2743200"/>
            <a:ext cx="1371600" cy="731520"/>
          </a:xfrm>
          <a:prstGeom prst="roundRect">
            <a:avLst>
              <a:gd name="adj" fmla="val 7500"/>
            </a:avLst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KZ"/>
          </a:p>
        </p:txBody>
      </p:sp>
      <p:sp>
        <p:nvSpPr>
          <p:cNvPr id="9" name="Text 7"/>
          <p:cNvSpPr/>
          <p:nvPr/>
        </p:nvSpPr>
        <p:spPr>
          <a:xfrm>
            <a:off x="3465576" y="2743200"/>
            <a:ext cx="12984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Обучение</a:t>
            </a:r>
            <a:endParaRPr lang="en-US" sz="1150" dirty="0"/>
          </a:p>
          <a:p>
            <a:pPr marL="0" indent="0" algn="ctr">
              <a:lnSpc>
                <a:spcPts val="13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модели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264408" y="3108960"/>
            <a:ext cx="146304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  <p:txBody>
          <a:bodyPr/>
          <a:lstStyle/>
          <a:p>
            <a:endParaRPr lang="en-KZ"/>
          </a:p>
        </p:txBody>
      </p:sp>
      <p:sp>
        <p:nvSpPr>
          <p:cNvPr id="11" name="Shape 9"/>
          <p:cNvSpPr/>
          <p:nvPr/>
        </p:nvSpPr>
        <p:spPr>
          <a:xfrm>
            <a:off x="4983480" y="2743200"/>
            <a:ext cx="1371600" cy="731520"/>
          </a:xfrm>
          <a:prstGeom prst="roundRect">
            <a:avLst>
              <a:gd name="adj" fmla="val 7500"/>
            </a:avLst>
          </a:prstGeom>
          <a:solidFill>
            <a:srgbClr val="EFF6FF"/>
          </a:solidFill>
          <a:ln w="1905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KZ"/>
          </a:p>
        </p:txBody>
      </p:sp>
      <p:sp>
        <p:nvSpPr>
          <p:cNvPr id="12" name="Text 10"/>
          <p:cNvSpPr/>
          <p:nvPr/>
        </p:nvSpPr>
        <p:spPr>
          <a:xfrm>
            <a:off x="5020056" y="2743200"/>
            <a:ext cx="12984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Тест</a:t>
            </a:r>
            <a:endParaRPr lang="en-US" sz="1150" dirty="0"/>
          </a:p>
          <a:p>
            <a:pPr marL="0" indent="0" algn="ctr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модели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818888" y="3108960"/>
            <a:ext cx="146304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  <p:txBody>
          <a:bodyPr/>
          <a:lstStyle/>
          <a:p>
            <a:endParaRPr lang="en-KZ"/>
          </a:p>
        </p:txBody>
      </p:sp>
      <p:sp>
        <p:nvSpPr>
          <p:cNvPr id="14" name="Shape 12"/>
          <p:cNvSpPr/>
          <p:nvPr/>
        </p:nvSpPr>
        <p:spPr>
          <a:xfrm>
            <a:off x="4846320" y="1417320"/>
            <a:ext cx="1554480" cy="658368"/>
          </a:xfrm>
          <a:prstGeom prst="roundRect">
            <a:avLst>
              <a:gd name="adj" fmla="val 8333"/>
            </a:avLst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KZ"/>
          </a:p>
        </p:txBody>
      </p:sp>
      <p:sp>
        <p:nvSpPr>
          <p:cNvPr id="15" name="Text 13"/>
          <p:cNvSpPr/>
          <p:nvPr/>
        </p:nvSpPr>
        <p:spPr>
          <a:xfrm>
            <a:off x="4882896" y="1417320"/>
            <a:ext cx="14813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Тестовые данные</a:t>
            </a:r>
            <a:endParaRPr lang="en-US" sz="1150" dirty="0"/>
          </a:p>
          <a:p>
            <a:pPr marL="0" indent="0" algn="ctr">
              <a:lnSpc>
                <a:spcPts val="13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(test)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669280" y="2075688"/>
            <a:ext cx="0" cy="649224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  <p:txBody>
          <a:bodyPr/>
          <a:lstStyle/>
          <a:p>
            <a:endParaRPr lang="en-KZ"/>
          </a:p>
        </p:txBody>
      </p:sp>
      <p:sp>
        <p:nvSpPr>
          <p:cNvPr id="17" name="Text 15"/>
          <p:cNvSpPr/>
          <p:nvPr/>
        </p:nvSpPr>
        <p:spPr>
          <a:xfrm>
            <a:off x="2828109" y="2200002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000"/>
              </a:lnSpc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обучающие</a:t>
            </a:r>
            <a:endParaRPr lang="en-US" sz="950" dirty="0"/>
          </a:p>
          <a:p>
            <a:pPr marL="0" indent="0" algn="ctr">
              <a:lnSpc>
                <a:spcPts val="1000"/>
              </a:lnSpc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данные (train)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40080" y="44348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Проверяем модель на тестовых данных.</a:t>
            </a:r>
            <a:endParaRPr lang="en-US" sz="1500" dirty="0"/>
          </a:p>
        </p:txBody>
      </p:sp>
      <p:sp>
        <p:nvSpPr>
          <p:cNvPr id="19" name="Shape 19">
            <a:extLst>
              <a:ext uri="{FF2B5EF4-FFF2-40B4-BE49-F238E27FC236}">
                <a16:creationId xmlns:a16="http://schemas.microsoft.com/office/drawing/2014/main" id="{A06FBBD5-D7BB-0CAB-B890-C593C1BDFF73}"/>
              </a:ext>
            </a:extLst>
          </p:cNvPr>
          <p:cNvSpPr/>
          <p:nvPr/>
        </p:nvSpPr>
        <p:spPr>
          <a:xfrm>
            <a:off x="4114800" y="1764792"/>
            <a:ext cx="731520" cy="871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  <p:txBody>
          <a:bodyPr/>
          <a:lstStyle/>
          <a:p>
            <a:endParaRPr lang="en-KZ"/>
          </a:p>
        </p:txBody>
      </p:sp>
      <p:sp>
        <p:nvSpPr>
          <p:cNvPr id="20" name="Shape 20">
            <a:extLst>
              <a:ext uri="{FF2B5EF4-FFF2-40B4-BE49-F238E27FC236}">
                <a16:creationId xmlns:a16="http://schemas.microsoft.com/office/drawing/2014/main" id="{221326BA-8028-842E-3F00-AC6EB4813907}"/>
              </a:ext>
            </a:extLst>
          </p:cNvPr>
          <p:cNvSpPr/>
          <p:nvPr/>
        </p:nvSpPr>
        <p:spPr>
          <a:xfrm>
            <a:off x="4114800" y="1764792"/>
            <a:ext cx="0" cy="978408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en-KZ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30"/>
              </a:lnSpc>
              <a:buNone/>
            </a:pPr>
            <a:r>
              <a:rPr lang="en-US" sz="26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Процесс машинного обучения (ML process)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20040" y="2743200"/>
            <a:ext cx="1371600" cy="731520"/>
          </a:xfrm>
          <a:prstGeom prst="roundRect">
            <a:avLst>
              <a:gd name="adj" fmla="val 7500"/>
            </a:avLst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KZ"/>
          </a:p>
        </p:txBody>
      </p:sp>
      <p:sp>
        <p:nvSpPr>
          <p:cNvPr id="4" name="Text 2"/>
          <p:cNvSpPr/>
          <p:nvPr/>
        </p:nvSpPr>
        <p:spPr>
          <a:xfrm>
            <a:off x="356616" y="2743200"/>
            <a:ext cx="12984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Сбор</a:t>
            </a:r>
            <a:endParaRPr lang="en-US" sz="1150" dirty="0"/>
          </a:p>
          <a:p>
            <a:pPr marL="0" indent="0" algn="ctr">
              <a:lnSpc>
                <a:spcPts val="13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данных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1874520" y="2743200"/>
            <a:ext cx="1371600" cy="731520"/>
          </a:xfrm>
          <a:prstGeom prst="roundRect">
            <a:avLst>
              <a:gd name="adj" fmla="val 7500"/>
            </a:avLst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KZ"/>
          </a:p>
        </p:txBody>
      </p:sp>
      <p:sp>
        <p:nvSpPr>
          <p:cNvPr id="6" name="Text 4"/>
          <p:cNvSpPr/>
          <p:nvPr/>
        </p:nvSpPr>
        <p:spPr>
          <a:xfrm>
            <a:off x="1911096" y="2743200"/>
            <a:ext cx="12984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Очистка</a:t>
            </a:r>
            <a:endParaRPr lang="en-US" sz="1150" dirty="0"/>
          </a:p>
          <a:p>
            <a:pPr marL="0" indent="0" algn="ctr">
              <a:lnSpc>
                <a:spcPts val="13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данных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1709928" y="3108960"/>
            <a:ext cx="146304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  <p:txBody>
          <a:bodyPr/>
          <a:lstStyle/>
          <a:p>
            <a:endParaRPr lang="en-KZ"/>
          </a:p>
        </p:txBody>
      </p:sp>
      <p:sp>
        <p:nvSpPr>
          <p:cNvPr id="8" name="Shape 6"/>
          <p:cNvSpPr/>
          <p:nvPr/>
        </p:nvSpPr>
        <p:spPr>
          <a:xfrm>
            <a:off x="3429000" y="2743200"/>
            <a:ext cx="1371600" cy="731520"/>
          </a:xfrm>
          <a:prstGeom prst="roundRect">
            <a:avLst>
              <a:gd name="adj" fmla="val 7500"/>
            </a:avLst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KZ"/>
          </a:p>
        </p:txBody>
      </p:sp>
      <p:sp>
        <p:nvSpPr>
          <p:cNvPr id="9" name="Text 7"/>
          <p:cNvSpPr/>
          <p:nvPr/>
        </p:nvSpPr>
        <p:spPr>
          <a:xfrm>
            <a:off x="3465576" y="2743200"/>
            <a:ext cx="12984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Обучение</a:t>
            </a:r>
            <a:endParaRPr lang="en-US" sz="1150" dirty="0"/>
          </a:p>
          <a:p>
            <a:pPr marL="0" indent="0" algn="ctr">
              <a:lnSpc>
                <a:spcPts val="13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модели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264408" y="3108960"/>
            <a:ext cx="146304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  <p:txBody>
          <a:bodyPr/>
          <a:lstStyle/>
          <a:p>
            <a:endParaRPr lang="en-KZ"/>
          </a:p>
        </p:txBody>
      </p:sp>
      <p:sp>
        <p:nvSpPr>
          <p:cNvPr id="11" name="Shape 9"/>
          <p:cNvSpPr/>
          <p:nvPr/>
        </p:nvSpPr>
        <p:spPr>
          <a:xfrm>
            <a:off x="4983480" y="2743200"/>
            <a:ext cx="1371600" cy="731520"/>
          </a:xfrm>
          <a:prstGeom prst="roundRect">
            <a:avLst>
              <a:gd name="adj" fmla="val 7500"/>
            </a:avLst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KZ"/>
          </a:p>
        </p:txBody>
      </p:sp>
      <p:sp>
        <p:nvSpPr>
          <p:cNvPr id="12" name="Text 10"/>
          <p:cNvSpPr/>
          <p:nvPr/>
        </p:nvSpPr>
        <p:spPr>
          <a:xfrm>
            <a:off x="5020056" y="2743200"/>
            <a:ext cx="12984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Тест</a:t>
            </a:r>
            <a:endParaRPr lang="en-US" sz="1150" dirty="0"/>
          </a:p>
          <a:p>
            <a:pPr marL="0" indent="0" algn="ctr">
              <a:lnSpc>
                <a:spcPts val="13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модели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818888" y="3108960"/>
            <a:ext cx="146304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  <p:txBody>
          <a:bodyPr/>
          <a:lstStyle/>
          <a:p>
            <a:endParaRPr lang="en-KZ"/>
          </a:p>
        </p:txBody>
      </p:sp>
      <p:sp>
        <p:nvSpPr>
          <p:cNvPr id="14" name="Shape 12"/>
          <p:cNvSpPr/>
          <p:nvPr/>
        </p:nvSpPr>
        <p:spPr>
          <a:xfrm>
            <a:off x="4846320" y="1417320"/>
            <a:ext cx="1554480" cy="658368"/>
          </a:xfrm>
          <a:prstGeom prst="roundRect">
            <a:avLst>
              <a:gd name="adj" fmla="val 8333"/>
            </a:avLst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KZ"/>
          </a:p>
        </p:txBody>
      </p:sp>
      <p:sp>
        <p:nvSpPr>
          <p:cNvPr id="15" name="Text 13"/>
          <p:cNvSpPr/>
          <p:nvPr/>
        </p:nvSpPr>
        <p:spPr>
          <a:xfrm>
            <a:off x="4882896" y="1417320"/>
            <a:ext cx="14813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Тестовые данные</a:t>
            </a:r>
            <a:endParaRPr lang="en-US" sz="1150" dirty="0"/>
          </a:p>
          <a:p>
            <a:pPr marL="0" indent="0" algn="ctr">
              <a:lnSpc>
                <a:spcPts val="13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(test)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669280" y="2075688"/>
            <a:ext cx="0" cy="649224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  <p:txBody>
          <a:bodyPr/>
          <a:lstStyle/>
          <a:p>
            <a:endParaRPr lang="en-KZ"/>
          </a:p>
        </p:txBody>
      </p:sp>
      <p:sp>
        <p:nvSpPr>
          <p:cNvPr id="17" name="Text 15"/>
          <p:cNvSpPr/>
          <p:nvPr/>
        </p:nvSpPr>
        <p:spPr>
          <a:xfrm>
            <a:off x="3246120" y="2176272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000"/>
              </a:lnSpc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обучающие</a:t>
            </a:r>
            <a:endParaRPr lang="en-US" sz="950" dirty="0"/>
          </a:p>
          <a:p>
            <a:pPr marL="0" indent="0" algn="ctr">
              <a:lnSpc>
                <a:spcPts val="1000"/>
              </a:lnSpc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данные (train)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 flipH="1">
            <a:off x="4114800" y="3886200"/>
            <a:ext cx="1554480" cy="0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  <a:tailEnd type="triangle"/>
          </a:ln>
        </p:spPr>
        <p:txBody>
          <a:bodyPr/>
          <a:lstStyle/>
          <a:p>
            <a:endParaRPr lang="en-KZ"/>
          </a:p>
        </p:txBody>
      </p:sp>
      <p:sp>
        <p:nvSpPr>
          <p:cNvPr id="19" name="Shape 17"/>
          <p:cNvSpPr/>
          <p:nvPr/>
        </p:nvSpPr>
        <p:spPr>
          <a:xfrm>
            <a:off x="5669280" y="3474720"/>
            <a:ext cx="0" cy="411480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KZ"/>
          </a:p>
        </p:txBody>
      </p:sp>
      <p:sp>
        <p:nvSpPr>
          <p:cNvPr id="20" name="Shape 18"/>
          <p:cNvSpPr/>
          <p:nvPr/>
        </p:nvSpPr>
        <p:spPr>
          <a:xfrm>
            <a:off x="4114800" y="3474720"/>
            <a:ext cx="0" cy="411480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KZ"/>
          </a:p>
        </p:txBody>
      </p:sp>
      <p:sp>
        <p:nvSpPr>
          <p:cNvPr id="21" name="Text 19"/>
          <p:cNvSpPr/>
          <p:nvPr/>
        </p:nvSpPr>
        <p:spPr>
          <a:xfrm>
            <a:off x="3154680" y="39319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подбор параметров (adjust parameters)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40080" y="44348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 необходимости подбираем параметры и повторяем.</a:t>
            </a:r>
            <a:endParaRPr lang="en-US" sz="15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30"/>
              </a:lnSpc>
              <a:buNone/>
            </a:pPr>
            <a:r>
              <a:rPr lang="en-US" sz="26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Процесс машинного обучения (ML process)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20040" y="2743200"/>
            <a:ext cx="1371600" cy="731520"/>
          </a:xfrm>
          <a:prstGeom prst="roundRect">
            <a:avLst>
              <a:gd name="adj" fmla="val 7500"/>
            </a:avLst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KZ"/>
          </a:p>
        </p:txBody>
      </p:sp>
      <p:sp>
        <p:nvSpPr>
          <p:cNvPr id="4" name="Text 2"/>
          <p:cNvSpPr/>
          <p:nvPr/>
        </p:nvSpPr>
        <p:spPr>
          <a:xfrm>
            <a:off x="356616" y="2743200"/>
            <a:ext cx="12984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Сбор</a:t>
            </a:r>
            <a:endParaRPr lang="en-US" sz="1150" dirty="0"/>
          </a:p>
          <a:p>
            <a:pPr marL="0" indent="0" algn="ctr">
              <a:lnSpc>
                <a:spcPts val="13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данных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1874520" y="2743200"/>
            <a:ext cx="1371600" cy="731520"/>
          </a:xfrm>
          <a:prstGeom prst="roundRect">
            <a:avLst>
              <a:gd name="adj" fmla="val 7500"/>
            </a:avLst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KZ"/>
          </a:p>
        </p:txBody>
      </p:sp>
      <p:sp>
        <p:nvSpPr>
          <p:cNvPr id="6" name="Text 4"/>
          <p:cNvSpPr/>
          <p:nvPr/>
        </p:nvSpPr>
        <p:spPr>
          <a:xfrm>
            <a:off x="1911096" y="2743200"/>
            <a:ext cx="12984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Очистка</a:t>
            </a:r>
            <a:endParaRPr lang="en-US" sz="1150" dirty="0"/>
          </a:p>
          <a:p>
            <a:pPr marL="0" indent="0" algn="ctr">
              <a:lnSpc>
                <a:spcPts val="13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данных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1709928" y="3108960"/>
            <a:ext cx="146304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  <p:txBody>
          <a:bodyPr/>
          <a:lstStyle/>
          <a:p>
            <a:endParaRPr lang="en-KZ"/>
          </a:p>
        </p:txBody>
      </p:sp>
      <p:sp>
        <p:nvSpPr>
          <p:cNvPr id="8" name="Shape 6"/>
          <p:cNvSpPr/>
          <p:nvPr/>
        </p:nvSpPr>
        <p:spPr>
          <a:xfrm>
            <a:off x="3429000" y="2743200"/>
            <a:ext cx="1371600" cy="731520"/>
          </a:xfrm>
          <a:prstGeom prst="roundRect">
            <a:avLst>
              <a:gd name="adj" fmla="val 7500"/>
            </a:avLst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KZ"/>
          </a:p>
        </p:txBody>
      </p:sp>
      <p:sp>
        <p:nvSpPr>
          <p:cNvPr id="9" name="Text 7"/>
          <p:cNvSpPr/>
          <p:nvPr/>
        </p:nvSpPr>
        <p:spPr>
          <a:xfrm>
            <a:off x="3465576" y="2743200"/>
            <a:ext cx="12984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Обучение</a:t>
            </a:r>
            <a:endParaRPr lang="en-US" sz="1150" dirty="0"/>
          </a:p>
          <a:p>
            <a:pPr marL="0" indent="0" algn="ctr">
              <a:lnSpc>
                <a:spcPts val="13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модели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264408" y="3108960"/>
            <a:ext cx="146304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  <p:txBody>
          <a:bodyPr/>
          <a:lstStyle/>
          <a:p>
            <a:endParaRPr lang="en-KZ"/>
          </a:p>
        </p:txBody>
      </p:sp>
      <p:sp>
        <p:nvSpPr>
          <p:cNvPr id="11" name="Shape 9"/>
          <p:cNvSpPr/>
          <p:nvPr/>
        </p:nvSpPr>
        <p:spPr>
          <a:xfrm>
            <a:off x="4983480" y="2743200"/>
            <a:ext cx="1371600" cy="731520"/>
          </a:xfrm>
          <a:prstGeom prst="roundRect">
            <a:avLst>
              <a:gd name="adj" fmla="val 7500"/>
            </a:avLst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KZ"/>
          </a:p>
        </p:txBody>
      </p:sp>
      <p:sp>
        <p:nvSpPr>
          <p:cNvPr id="12" name="Text 10"/>
          <p:cNvSpPr/>
          <p:nvPr/>
        </p:nvSpPr>
        <p:spPr>
          <a:xfrm>
            <a:off x="5020056" y="2743200"/>
            <a:ext cx="12984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Тест</a:t>
            </a:r>
            <a:endParaRPr lang="en-US" sz="1150" dirty="0"/>
          </a:p>
          <a:p>
            <a:pPr marL="0" indent="0" algn="ctr">
              <a:lnSpc>
                <a:spcPts val="13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модели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818888" y="3108960"/>
            <a:ext cx="146304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  <p:txBody>
          <a:bodyPr/>
          <a:lstStyle/>
          <a:p>
            <a:endParaRPr lang="en-KZ"/>
          </a:p>
        </p:txBody>
      </p:sp>
      <p:sp>
        <p:nvSpPr>
          <p:cNvPr id="14" name="Shape 12"/>
          <p:cNvSpPr/>
          <p:nvPr/>
        </p:nvSpPr>
        <p:spPr>
          <a:xfrm>
            <a:off x="6537960" y="2743200"/>
            <a:ext cx="1371600" cy="731520"/>
          </a:xfrm>
          <a:prstGeom prst="roundRect">
            <a:avLst>
              <a:gd name="adj" fmla="val 7500"/>
            </a:avLst>
          </a:prstGeom>
          <a:solidFill>
            <a:srgbClr val="EFF6FF"/>
          </a:solidFill>
          <a:ln w="1905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KZ"/>
          </a:p>
        </p:txBody>
      </p:sp>
      <p:sp>
        <p:nvSpPr>
          <p:cNvPr id="15" name="Text 13"/>
          <p:cNvSpPr/>
          <p:nvPr/>
        </p:nvSpPr>
        <p:spPr>
          <a:xfrm>
            <a:off x="6574536" y="2743200"/>
            <a:ext cx="12984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Внедрение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373368" y="3108960"/>
            <a:ext cx="146304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  <p:txBody>
          <a:bodyPr/>
          <a:lstStyle/>
          <a:p>
            <a:endParaRPr lang="en-KZ"/>
          </a:p>
        </p:txBody>
      </p:sp>
      <p:sp>
        <p:nvSpPr>
          <p:cNvPr id="17" name="Shape 15"/>
          <p:cNvSpPr/>
          <p:nvPr/>
        </p:nvSpPr>
        <p:spPr>
          <a:xfrm>
            <a:off x="4846320" y="1417320"/>
            <a:ext cx="1554480" cy="658368"/>
          </a:xfrm>
          <a:prstGeom prst="roundRect">
            <a:avLst>
              <a:gd name="adj" fmla="val 8333"/>
            </a:avLst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KZ"/>
          </a:p>
        </p:txBody>
      </p:sp>
      <p:sp>
        <p:nvSpPr>
          <p:cNvPr id="18" name="Text 16"/>
          <p:cNvSpPr/>
          <p:nvPr/>
        </p:nvSpPr>
        <p:spPr>
          <a:xfrm>
            <a:off x="4882896" y="1417320"/>
            <a:ext cx="14813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Тестовые данные</a:t>
            </a:r>
            <a:endParaRPr lang="en-US" sz="1150" dirty="0"/>
          </a:p>
          <a:p>
            <a:pPr marL="0" indent="0" algn="ctr">
              <a:lnSpc>
                <a:spcPts val="13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(test)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669280" y="2075688"/>
            <a:ext cx="0" cy="649224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  <p:txBody>
          <a:bodyPr/>
          <a:lstStyle/>
          <a:p>
            <a:endParaRPr lang="en-KZ"/>
          </a:p>
        </p:txBody>
      </p:sp>
      <p:sp>
        <p:nvSpPr>
          <p:cNvPr id="20" name="Text 18"/>
          <p:cNvSpPr/>
          <p:nvPr/>
        </p:nvSpPr>
        <p:spPr>
          <a:xfrm>
            <a:off x="3246120" y="2176272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000"/>
              </a:lnSpc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обучающие</a:t>
            </a:r>
            <a:endParaRPr lang="en-US" sz="950" dirty="0"/>
          </a:p>
          <a:p>
            <a:pPr marL="0" indent="0" algn="ctr">
              <a:lnSpc>
                <a:spcPts val="1000"/>
              </a:lnSpc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данные (train)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 flipH="1">
            <a:off x="4114800" y="3886200"/>
            <a:ext cx="1554480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  <p:txBody>
          <a:bodyPr/>
          <a:lstStyle/>
          <a:p>
            <a:endParaRPr lang="en-KZ"/>
          </a:p>
        </p:txBody>
      </p:sp>
      <p:sp>
        <p:nvSpPr>
          <p:cNvPr id="22" name="Shape 20"/>
          <p:cNvSpPr/>
          <p:nvPr/>
        </p:nvSpPr>
        <p:spPr>
          <a:xfrm>
            <a:off x="5669280" y="3474720"/>
            <a:ext cx="0" cy="41148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en-KZ"/>
          </a:p>
        </p:txBody>
      </p:sp>
      <p:sp>
        <p:nvSpPr>
          <p:cNvPr id="23" name="Shape 21"/>
          <p:cNvSpPr/>
          <p:nvPr/>
        </p:nvSpPr>
        <p:spPr>
          <a:xfrm>
            <a:off x="4114800" y="3474720"/>
            <a:ext cx="0" cy="41148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en-KZ"/>
          </a:p>
        </p:txBody>
      </p:sp>
      <p:sp>
        <p:nvSpPr>
          <p:cNvPr id="24" name="Text 22"/>
          <p:cNvSpPr/>
          <p:nvPr/>
        </p:nvSpPr>
        <p:spPr>
          <a:xfrm>
            <a:off x="3154680" y="39319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подбор параметров (adjust parameters)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40080" y="44348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Готовую модель внедряем </a:t>
            </a:r>
            <a:r>
              <a:rPr lang="en-US" sz="15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</a:t>
            </a: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прод</a:t>
            </a: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5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30"/>
              </a:lnSpc>
              <a:buNone/>
            </a:pPr>
            <a:r>
              <a:rPr lang="en-US" sz="26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Обучение с учителем: есть нюанс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14630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932688" y="1463040"/>
            <a:ext cx="7799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74"/>
              </a:lnSpc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То, что мы показали, это упрощённый подход, в нём есть проблема.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40080" y="18836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32688" y="1883664"/>
            <a:ext cx="7799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74"/>
              </a:lnSpc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Честно ли оценивать модель по одному-единственному разбиению данных?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40080" y="23042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32688" y="2304288"/>
            <a:ext cx="7799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74"/>
              </a:lnSpc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Ведь мы много раз получали возможность подправить параметры модели.</a:t>
            </a:r>
            <a:endParaRPr lang="en-US" sz="17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30"/>
              </a:lnSpc>
              <a:buNone/>
            </a:pPr>
            <a:r>
              <a:rPr lang="en-US" sz="26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Решение: три набора данных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932688" y="1371600"/>
            <a:ext cx="7799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74"/>
              </a:lnSpc>
              <a:buNone/>
            </a:pPr>
            <a:r>
              <a:rPr lang="en-US" sz="17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Обучающие данные (training data)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1097280" y="179222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389888" y="1792224"/>
            <a:ext cx="7342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74"/>
              </a:lnSpc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используются для обучения параметров модели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40080" y="22128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32688" y="2212848"/>
            <a:ext cx="7799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74"/>
              </a:lnSpc>
              <a:buNone/>
            </a:pPr>
            <a:r>
              <a:rPr lang="en-US" sz="17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Валидационные данные (validation data)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97280" y="26334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389888" y="2633472"/>
            <a:ext cx="7342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74"/>
              </a:lnSpc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определяют, какие гиперпараметры подстраивать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40080" y="30540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932688" y="3054096"/>
            <a:ext cx="7799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74"/>
              </a:lnSpc>
              <a:buNone/>
            </a:pPr>
            <a:r>
              <a:rPr lang="en-US" sz="1700" dirty="0">
                <a:solidFill>
                  <a:srgbClr val="C26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Тестовые данные (test data)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097280" y="34747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389888" y="3474720"/>
            <a:ext cx="7342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74"/>
              </a:lnSpc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дают финальную метрику качества</a:t>
            </a:r>
            <a:endParaRPr lang="en-US" sz="17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30"/>
              </a:lnSpc>
              <a:buNone/>
            </a:pPr>
            <a:r>
              <a:rPr lang="en-US" sz="26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Финальная оценка честная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16459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932688" y="1645920"/>
            <a:ext cx="77998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74"/>
              </a:lnSpc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После того как мы увидели результат на </a:t>
            </a:r>
            <a:r>
              <a:rPr lang="en-US" sz="1700" dirty="0">
                <a:solidFill>
                  <a:srgbClr val="C26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финальном тестовом наборе</a:t>
            </a: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параметры менять уже нельзя.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40080" y="23408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32688" y="2340864"/>
            <a:ext cx="77998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74"/>
              </a:lnSpc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Эта финальная мера и есть то, что мы считаем </a:t>
            </a:r>
            <a:r>
              <a:rPr lang="en-US" sz="17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истинным качеством</a:t>
            </a: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модели.</a:t>
            </a:r>
            <a:endParaRPr lang="en-US" sz="17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30"/>
              </a:lnSpc>
              <a:buNone/>
            </a:pPr>
            <a:r>
              <a:rPr lang="en-US" sz="26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Как будет в курсе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15544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932688" y="1554480"/>
            <a:ext cx="77998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74"/>
              </a:lnSpc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курсе мы в целом упрощаем и используем обычное разбиение </a:t>
            </a:r>
            <a:r>
              <a:rPr lang="en-US" sz="17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train/test</a:t>
            </a: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40080" y="224942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32688" y="2249424"/>
            <a:ext cx="77998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74"/>
              </a:lnSpc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Обучаем, затем оцениваем на тестовом наборе (с возможностью для студентов вернуться и подправить параметры).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40080" y="29443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32688" y="2944368"/>
            <a:ext cx="7799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74"/>
              </a:lnSpc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Пройдя курс, вы легко сделаете и третье разбиение, если потребуется.</a:t>
            </a:r>
            <a:endParaRPr lang="en-US" sz="17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0"/>
            <a:ext cx="8229600" cy="514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Переобучение и недообучение</a:t>
            </a:r>
            <a:endParaRPr lang="en-US" sz="4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30"/>
              </a:lnSpc>
              <a:buNone/>
            </a:pPr>
            <a:r>
              <a:rPr lang="en-US" sz="26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Переходим к теме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1828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932688" y="1828800"/>
            <a:ext cx="77998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74"/>
              </a:lnSpc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Теперь, когда весь процесс обучения с учителем понятен, коснёмся важных тем: </a:t>
            </a:r>
            <a:r>
              <a:rPr lang="en-US" sz="17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переобучения (overfitting)</a:t>
            </a: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и </a:t>
            </a:r>
            <a:r>
              <a:rPr lang="en-US" sz="1700" dirty="0">
                <a:solidFill>
                  <a:srgbClr val="C26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недообучения (underfitting)</a:t>
            </a: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7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30"/>
              </a:lnSpc>
              <a:buNone/>
            </a:pPr>
            <a:r>
              <a:rPr lang="en-US" sz="26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Переобучение (overfitting)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17373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932688" y="1737360"/>
            <a:ext cx="7799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74"/>
              </a:lnSpc>
              <a:buNone/>
            </a:pPr>
            <a:r>
              <a:rPr lang="en-US" sz="17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Переобучение</a:t>
            </a: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модель слишком сильно подстраивается под шум в данных.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40080" y="21579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32688" y="2157984"/>
            <a:ext cx="77998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74"/>
              </a:lnSpc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Часто это даёт </a:t>
            </a:r>
            <a:r>
              <a:rPr lang="en-US" sz="1700" dirty="0">
                <a:solidFill>
                  <a:srgbClr val="C26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низкую ошибку на обучении</a:t>
            </a: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но </a:t>
            </a:r>
            <a:r>
              <a:rPr lang="en-US" sz="1700" dirty="0">
                <a:solidFill>
                  <a:srgbClr val="C26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высокую ошибку на тесте</a:t>
            </a: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7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30"/>
              </a:lnSpc>
              <a:buNone/>
            </a:pPr>
            <a:r>
              <a:rPr lang="en-US" sz="26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Данные</a:t>
            </a:r>
            <a:endParaRPr lang="en-US" sz="2600" dirty="0"/>
          </a:p>
        </p:txBody>
      </p:sp>
      <p:pic>
        <p:nvPicPr>
          <p:cNvPr id="3" name="Image 0" descr="of_dat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99537" y="1371600"/>
            <a:ext cx="3944926" cy="2834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461772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Просто облако точек: пока без модели.</a:t>
            </a:r>
            <a:endParaRPr lang="en-US" sz="13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30"/>
              </a:lnSpc>
              <a:buNone/>
            </a:pPr>
            <a:r>
              <a:rPr lang="en-US" sz="26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Хорошая модель (good model)</a:t>
            </a:r>
            <a:endParaRPr lang="en-US" sz="2600" dirty="0"/>
          </a:p>
        </p:txBody>
      </p:sp>
      <p:pic>
        <p:nvPicPr>
          <p:cNvPr id="3" name="Image 0" descr="of_goo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99537" y="1371600"/>
            <a:ext cx="3944926" cy="2834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461772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Гладкая кривая ловит общий тренд, а не каждую точку.</a:t>
            </a:r>
            <a:endParaRPr lang="en-US" sz="13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30"/>
              </a:lnSpc>
              <a:buNone/>
            </a:pPr>
            <a:r>
              <a:rPr lang="en-US" sz="26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Переобучение</a:t>
            </a:r>
            <a:endParaRPr lang="en-US" sz="2600" dirty="0"/>
          </a:p>
        </p:txBody>
      </p:sp>
      <p:pic>
        <p:nvPicPr>
          <p:cNvPr id="3" name="Image 0" descr="of_ov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99537" y="1371600"/>
            <a:ext cx="3944926" cy="2834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461772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Кривая проходит почти через все точки, повторяя шум.</a:t>
            </a:r>
            <a:endParaRPr lang="en-US" sz="13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30"/>
              </a:lnSpc>
              <a:buNone/>
            </a:pPr>
            <a:r>
              <a:rPr lang="en-US" sz="26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Переобучение</a:t>
            </a:r>
            <a:endParaRPr lang="en-US" sz="2600" dirty="0"/>
          </a:p>
        </p:txBody>
      </p:sp>
      <p:pic>
        <p:nvPicPr>
          <p:cNvPr id="3" name="Image 0" descr="of_over_n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99537" y="1371600"/>
            <a:ext cx="3944926" cy="2834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461772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новой точке переобученная модель сильно промахивается.</a:t>
            </a:r>
            <a:endParaRPr lang="en-US" sz="13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30"/>
              </a:lnSpc>
              <a:buNone/>
            </a:pPr>
            <a:r>
              <a:rPr lang="en-US" sz="26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Недообучение (underfitting)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15544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932688" y="1554480"/>
            <a:ext cx="7799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74"/>
              </a:lnSpc>
              <a:buNone/>
            </a:pPr>
            <a:r>
              <a:rPr lang="en-US" sz="1700" dirty="0">
                <a:solidFill>
                  <a:srgbClr val="C26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Недообучение</a:t>
            </a: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модель не улавливает тренд и плохо описывает данные.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40080" y="197510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32688" y="1975104"/>
            <a:ext cx="7799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74"/>
              </a:lnSpc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Низкая дисперсия (variance), но высокое смещение (bias).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40080" y="23957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32688" y="2395728"/>
            <a:ext cx="7799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74"/>
              </a:lnSpc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Часто это следствие слишком простой модели.</a:t>
            </a:r>
            <a:endParaRPr lang="en-US" sz="17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30"/>
              </a:lnSpc>
              <a:buNone/>
            </a:pPr>
            <a:r>
              <a:rPr lang="en-US" sz="26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Данные</a:t>
            </a:r>
            <a:endParaRPr lang="en-US" sz="2600" dirty="0"/>
          </a:p>
        </p:txBody>
      </p:sp>
      <p:pic>
        <p:nvPicPr>
          <p:cNvPr id="3" name="Image 0" descr="uf_dat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99537" y="1371600"/>
            <a:ext cx="3944926" cy="2834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461772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 же данные с явным нелинейным трендом.</a:t>
            </a:r>
            <a:endParaRPr lang="en-US" sz="13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30"/>
              </a:lnSpc>
              <a:buNone/>
            </a:pPr>
            <a:r>
              <a:rPr lang="en-US" sz="26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Недообучение</a:t>
            </a:r>
            <a:endParaRPr lang="en-US" sz="2600" dirty="0"/>
          </a:p>
        </p:txBody>
      </p:sp>
      <p:pic>
        <p:nvPicPr>
          <p:cNvPr id="3" name="Image 0" descr="uf_un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99537" y="1371600"/>
            <a:ext cx="3944926" cy="2834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461772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Прямая слишком проста и не повторяет изгиб данных.</a:t>
            </a:r>
            <a:endParaRPr lang="en-US" sz="13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30"/>
              </a:lnSpc>
              <a:buNone/>
            </a:pPr>
            <a:r>
              <a:rPr lang="en-US" sz="26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А если данные многомерные?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16459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932688" y="1645920"/>
            <a:ext cx="77998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74"/>
              </a:lnSpc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2D переобучение и недообучение легко увидеть глазами. А как заметить их на многомерных данных?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40080" y="23408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32688" y="2340864"/>
            <a:ext cx="77998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74"/>
              </a:lnSpc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Сначала представим, что мы обучили модель и измеряли её ошибку по ходу обучения.</a:t>
            </a:r>
            <a:endParaRPr lang="en-US" sz="17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30"/>
              </a:lnSpc>
              <a:buNone/>
            </a:pPr>
            <a:r>
              <a:rPr lang="en-US" sz="26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Хорошая модель</a:t>
            </a:r>
            <a:endParaRPr lang="en-US" sz="2600" dirty="0"/>
          </a:p>
        </p:txBody>
      </p:sp>
      <p:pic>
        <p:nvPicPr>
          <p:cNvPr id="3" name="Image 0" descr="err_good_ti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60775" y="1417320"/>
            <a:ext cx="4622450" cy="2743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461772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Ошибка падает по времени обучения.</a:t>
            </a:r>
            <a:endParaRPr lang="en-US" sz="13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30"/>
              </a:lnSpc>
              <a:buNone/>
            </a:pPr>
            <a:r>
              <a:rPr lang="en-US" sz="26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Хорошая модель</a:t>
            </a:r>
            <a:endParaRPr lang="en-US" sz="2600" dirty="0"/>
          </a:p>
        </p:txBody>
      </p:sp>
      <p:pic>
        <p:nvPicPr>
          <p:cNvPr id="3" name="Image 0" descr="err_good_epoch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50100" y="1417320"/>
            <a:ext cx="4643800" cy="2743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461772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 же по эпохам (epochs): ошибка стабильно снижается.</a:t>
            </a:r>
            <a:endParaRPr lang="en-US" sz="13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30"/>
              </a:lnSpc>
              <a:buNone/>
            </a:pPr>
            <a:r>
              <a:rPr lang="en-US" sz="26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Плохая модель</a:t>
            </a:r>
            <a:endParaRPr lang="en-US" sz="2600" dirty="0"/>
          </a:p>
        </p:txBody>
      </p:sp>
      <p:pic>
        <p:nvPicPr>
          <p:cNvPr id="3" name="Image 0" descr="err_bad_epoch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50100" y="1417320"/>
            <a:ext cx="4643800" cy="2743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461772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Ошибка не снижается, а растёт: что-то не так.</a:t>
            </a:r>
            <a:endParaRPr lang="en-US" sz="13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30"/>
              </a:lnSpc>
              <a:buNone/>
            </a:pPr>
            <a:r>
              <a:rPr lang="en-US" sz="26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Обучение против теста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1828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932688" y="1828800"/>
            <a:ext cx="77998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74"/>
              </a:lnSpc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Думая о переобучении и недообучении, держим в уме соотношение качества на </a:t>
            </a:r>
            <a:r>
              <a:rPr lang="en-US" sz="17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обучающем</a:t>
            </a: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наборе и на </a:t>
            </a:r>
            <a:r>
              <a:rPr lang="en-US" sz="1700" dirty="0">
                <a:solidFill>
                  <a:srgbClr val="C26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тестовом/валидационном</a:t>
            </a: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7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30"/>
              </a:lnSpc>
              <a:buNone/>
            </a:pPr>
            <a:r>
              <a:rPr lang="en-US" sz="26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Разделим данные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1920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932688" y="1920240"/>
            <a:ext cx="77998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74"/>
              </a:lnSpc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Представим, что разбили данные на </a:t>
            </a:r>
            <a:r>
              <a:rPr lang="en-US" sz="17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обучающий набор (training set)</a:t>
            </a: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и </a:t>
            </a:r>
            <a:r>
              <a:rPr lang="en-US" sz="1700" dirty="0">
                <a:solidFill>
                  <a:srgbClr val="C26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тестовый набор (test set)</a:t>
            </a: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7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30"/>
              </a:lnSpc>
              <a:buNone/>
            </a:pPr>
            <a:r>
              <a:rPr lang="en-US" sz="26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Сначала смотрим на обучающем наборе</a:t>
            </a:r>
            <a:endParaRPr lang="en-US" sz="2600" dirty="0"/>
          </a:p>
        </p:txBody>
      </p:sp>
      <p:pic>
        <p:nvPicPr>
          <p:cNvPr id="3" name="Image 0" descr="tt_tra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50100" y="1417320"/>
            <a:ext cx="4643800" cy="2743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461772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Ошибка на обучении снижается.</a:t>
            </a:r>
            <a:endParaRPr lang="en-US" sz="13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30"/>
              </a:lnSpc>
              <a:buNone/>
            </a:pPr>
            <a:r>
              <a:rPr lang="en-US" sz="26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Затем проверяем на тестовом наборе</a:t>
            </a:r>
            <a:endParaRPr lang="en-US" sz="2600" dirty="0"/>
          </a:p>
        </p:txBody>
      </p:sp>
      <p:pic>
        <p:nvPicPr>
          <p:cNvPr id="3" name="Image 0" descr="tt_te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50100" y="1417320"/>
            <a:ext cx="4643800" cy="2743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461772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Смотрим, как ведёт себя ошибка на тесте.</a:t>
            </a:r>
            <a:endParaRPr lang="en-US" sz="13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30"/>
              </a:lnSpc>
              <a:buNone/>
            </a:pPr>
            <a:r>
              <a:rPr lang="en-US" sz="26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 идеале хорошо на обоих</a:t>
            </a:r>
            <a:endParaRPr lang="en-US" sz="2600" dirty="0"/>
          </a:p>
        </p:txBody>
      </p:sp>
      <p:pic>
        <p:nvPicPr>
          <p:cNvPr id="3" name="Image 0" descr="tt_bot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50100" y="1417320"/>
            <a:ext cx="4643800" cy="2743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461772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Кривые похожи: модель обобщает.</a:t>
            </a:r>
            <a:endParaRPr lang="en-US" sz="13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30"/>
              </a:lnSpc>
              <a:buNone/>
            </a:pPr>
            <a:r>
              <a:rPr lang="en-US" sz="26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А если переобучились?</a:t>
            </a:r>
            <a:endParaRPr lang="en-US" sz="2600" dirty="0"/>
          </a:p>
        </p:txBody>
      </p:sp>
      <p:pic>
        <p:nvPicPr>
          <p:cNvPr id="3" name="Image 0" descr="tt_ov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50100" y="1417320"/>
            <a:ext cx="4643800" cy="2743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461772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Ошибка на тесте начинает расти, на обучении продолжает падать.</a:t>
            </a:r>
            <a:endParaRPr lang="en-US" sz="13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30"/>
              </a:lnSpc>
              <a:buNone/>
            </a:pPr>
            <a:r>
              <a:rPr lang="en-US" sz="26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Переобучение видно</a:t>
            </a:r>
            <a:endParaRPr lang="en-US" sz="2600" dirty="0"/>
          </a:p>
        </p:txBody>
      </p:sp>
      <p:pic>
        <p:nvPicPr>
          <p:cNvPr id="3" name="Image 0" descr="tt_ov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50100" y="1417320"/>
            <a:ext cx="4643800" cy="2743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461772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Расхождение кривых, это плохой признак для новых данных.</a:t>
            </a:r>
            <a:endParaRPr lang="en-US" sz="13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30"/>
              </a:lnSpc>
              <a:buNone/>
            </a:pPr>
            <a:r>
              <a:rPr lang="en-US" sz="26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Где остановить обучение</a:t>
            </a:r>
            <a:endParaRPr lang="en-US" sz="2600" dirty="0"/>
          </a:p>
        </p:txBody>
      </p:sp>
      <p:pic>
        <p:nvPicPr>
          <p:cNvPr id="3" name="Image 0" descr="tt_cuto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50100" y="1417320"/>
            <a:ext cx="4643800" cy="2743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461772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Точка отсечки: минимум ошибки на тесте.</a:t>
            </a:r>
            <a:endParaRPr lang="en-US" sz="13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30"/>
              </a:lnSpc>
              <a:buNone/>
            </a:pPr>
            <a:r>
              <a:rPr lang="en-US" sz="26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Запомним на будущее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1828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932688" y="1828800"/>
            <a:ext cx="7799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74"/>
              </a:lnSpc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Вернёмся к этой идее, когда начнём строить модели на практике.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40080" y="224942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32688" y="2249424"/>
            <a:ext cx="7799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74"/>
              </a:lnSpc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Пока просто держим в уме эту возможную проблему.</a:t>
            </a:r>
            <a:endParaRPr lang="en-US" sz="17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0"/>
            <a:ext cx="8229600" cy="514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Оценка качества: классификация</a:t>
            </a:r>
            <a:endParaRPr lang="en-US" sz="44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30"/>
              </a:lnSpc>
              <a:buNone/>
            </a:pPr>
            <a:r>
              <a:rPr lang="en-US" sz="26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Оценка модели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16459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932688" y="1645920"/>
            <a:ext cx="77998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74"/>
              </a:lnSpc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Мы выяснили: после завершения процесса обучения мы используем </a:t>
            </a:r>
            <a:r>
              <a:rPr lang="en-US" sz="17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метрики качества</a:t>
            </a: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чтобы оценить, как сработала модель.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40080" y="23408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32688" y="2340864"/>
            <a:ext cx="7799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74"/>
              </a:lnSpc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Разберём метрики классификации подробнее.</a:t>
            </a:r>
            <a:endParaRPr lang="en-US" sz="17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30"/>
              </a:lnSpc>
              <a:buNone/>
            </a:pPr>
            <a:r>
              <a:rPr lang="en-US" sz="26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Ключевые метрики классификации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15544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932688" y="1554480"/>
            <a:ext cx="7799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74"/>
              </a:lnSpc>
              <a:buNone/>
            </a:pPr>
            <a:r>
              <a:rPr lang="en-US" sz="17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(точность доли верных)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40080" y="197510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32688" y="1975104"/>
            <a:ext cx="7799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74"/>
              </a:lnSpc>
              <a:buNone/>
            </a:pPr>
            <a:r>
              <a:rPr lang="en-US" sz="17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(полнота)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40080" y="23957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32688" y="2395728"/>
            <a:ext cx="7799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74"/>
              </a:lnSpc>
              <a:buNone/>
            </a:pPr>
            <a:r>
              <a:rPr lang="en-US" sz="17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(точность)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40080" y="28163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932688" y="2816352"/>
            <a:ext cx="7799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74"/>
              </a:lnSpc>
              <a:buNone/>
            </a:pPr>
            <a:r>
              <a:rPr lang="en-US" sz="17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</a:t>
            </a:r>
            <a:endParaRPr lang="en-US" sz="17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30"/>
              </a:lnSpc>
              <a:buNone/>
            </a:pPr>
            <a:r>
              <a:rPr lang="en-US" sz="26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Сначала логика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2011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932688" y="2011680"/>
            <a:ext cx="77998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74"/>
              </a:lnSpc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 сперва поймём логику этих метрик и то, как они работают в реальном мире.</a:t>
            </a:r>
            <a:endParaRPr lang="en-US" sz="17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30"/>
              </a:lnSpc>
              <a:buNone/>
            </a:pPr>
            <a:r>
              <a:rPr lang="en-US" sz="26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Два исхода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17373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932688" y="1737360"/>
            <a:ext cx="7799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74"/>
              </a:lnSpc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любой задаче классификации модель может выдать только два исхода: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1097280" y="21579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389888" y="2157984"/>
            <a:ext cx="7342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74"/>
              </a:lnSpc>
              <a:buNone/>
            </a:pPr>
            <a:r>
              <a:rPr lang="en-US" sz="17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верно</a:t>
            </a: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в своём предсказании,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097280" y="25786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389888" y="2578608"/>
            <a:ext cx="7342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74"/>
              </a:lnSpc>
              <a:buNone/>
            </a:pPr>
            <a:r>
              <a:rPr lang="en-US" sz="1700" dirty="0">
                <a:solidFill>
                  <a:srgbClr val="C26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неверно</a:t>
            </a: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в своём предсказании.</a:t>
            </a:r>
            <a:endParaRPr lang="en-US" sz="17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30"/>
              </a:lnSpc>
              <a:buNone/>
            </a:pPr>
            <a:r>
              <a:rPr lang="en-US" sz="26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От двух классов к многим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17373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932688" y="1737360"/>
            <a:ext cx="77998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74"/>
              </a:lnSpc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 счастью, «верно или неверно» обобщается и на случай многих классов.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40080" y="243230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32688" y="2432304"/>
            <a:ext cx="77998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74"/>
              </a:lnSpc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Чтобы объяснить метрики, представим </a:t>
            </a:r>
            <a:r>
              <a:rPr lang="en-US" sz="17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бинарную классификацию</a:t>
            </a: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всего два класса.</a:t>
            </a:r>
            <a:endParaRPr lang="en-US" sz="17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30"/>
              </a:lnSpc>
              <a:buNone/>
            </a:pPr>
            <a:r>
              <a:rPr lang="en-US" sz="26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Пример: кошка или собака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15544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932688" y="1554480"/>
            <a:ext cx="7799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74"/>
              </a:lnSpc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Будем предсказывать, кто на изображении: собака или кошка.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40080" y="197510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32688" y="1975104"/>
            <a:ext cx="77998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74"/>
              </a:lnSpc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Это обучение с учителем: сначала обучаем модель на </a:t>
            </a:r>
            <a:r>
              <a:rPr lang="en-US" sz="17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обучающих данных</a:t>
            </a: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затем проверяем на </a:t>
            </a:r>
            <a:r>
              <a:rPr lang="en-US" sz="1700" dirty="0">
                <a:solidFill>
                  <a:srgbClr val="C26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тестовых</a:t>
            </a: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40080" y="26700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32688" y="2670048"/>
            <a:ext cx="77998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74"/>
              </a:lnSpc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Получив предсказания по X_test, сравниваем их с верными значениями </a:t>
            </a:r>
            <a:r>
              <a:rPr lang="en-US" sz="17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(метками)</a:t>
            </a: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7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30"/>
              </a:lnSpc>
              <a:buNone/>
            </a:pPr>
            <a:r>
              <a:rPr lang="en-US" sz="26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Оценка модели: как считаем верно/неверно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566160" y="1828800"/>
            <a:ext cx="1828800" cy="914400"/>
          </a:xfrm>
          <a:prstGeom prst="roundRect">
            <a:avLst>
              <a:gd name="adj" fmla="val 8000"/>
            </a:avLst>
          </a:prstGeom>
          <a:solidFill>
            <a:srgbClr val="EFF6FF"/>
          </a:solidFill>
          <a:ln w="1905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KZ"/>
          </a:p>
        </p:txBody>
      </p:sp>
      <p:sp>
        <p:nvSpPr>
          <p:cNvPr id="4" name="Text 2"/>
          <p:cNvSpPr/>
          <p:nvPr/>
        </p:nvSpPr>
        <p:spPr>
          <a:xfrm>
            <a:off x="3566160" y="182880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ОБУЧЕННАЯ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МОДЕЛЬ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44348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Берём обученную модель.</a:t>
            </a:r>
            <a:endParaRPr lang="en-US" sz="15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30"/>
              </a:lnSpc>
              <a:buNone/>
            </a:pPr>
            <a:r>
              <a:rPr lang="en-US" sz="26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Оценка модели: как считаем верно/неверно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566160" y="1828800"/>
            <a:ext cx="1828800" cy="914400"/>
          </a:xfrm>
          <a:prstGeom prst="roundRect">
            <a:avLst>
              <a:gd name="adj" fmla="val 8000"/>
            </a:avLst>
          </a:prstGeom>
          <a:solidFill>
            <a:srgbClr val="EFF6FF"/>
          </a:solidFill>
          <a:ln w="1905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KZ"/>
          </a:p>
        </p:txBody>
      </p:sp>
      <p:sp>
        <p:nvSpPr>
          <p:cNvPr id="4" name="Text 2"/>
          <p:cNvSpPr/>
          <p:nvPr/>
        </p:nvSpPr>
        <p:spPr>
          <a:xfrm>
            <a:off x="3566160" y="182880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ОБУЧЕННАЯ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МОДЕЛЬ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874520"/>
            <a:ext cx="1737360" cy="822960"/>
          </a:xfrm>
          <a:prstGeom prst="roundRect">
            <a:avLst>
              <a:gd name="adj" fmla="val 6667"/>
            </a:avLst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KZ"/>
          </a:p>
        </p:txBody>
      </p:sp>
      <p:sp>
        <p:nvSpPr>
          <p:cNvPr id="6" name="Text 4"/>
          <p:cNvSpPr/>
          <p:nvPr/>
        </p:nvSpPr>
        <p:spPr>
          <a:xfrm>
            <a:off x="676656" y="1874520"/>
            <a:ext cx="16642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Тестовое изображение</a:t>
            </a:r>
            <a:endParaRPr lang="en-US" sz="1150" dirty="0"/>
          </a:p>
          <a:p>
            <a:pPr marL="0" indent="0" algn="ctr">
              <a:lnSpc>
                <a:spcPts val="13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(из X_test)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2395728" y="2286000"/>
            <a:ext cx="1152144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  <p:txBody>
          <a:bodyPr/>
          <a:lstStyle/>
          <a:p>
            <a:endParaRPr lang="en-KZ"/>
          </a:p>
        </p:txBody>
      </p:sp>
      <p:sp>
        <p:nvSpPr>
          <p:cNvPr id="8" name="Text 6"/>
          <p:cNvSpPr/>
          <p:nvPr/>
        </p:nvSpPr>
        <p:spPr>
          <a:xfrm>
            <a:off x="640080" y="44348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Подаём тестовое изображение из X_test.</a:t>
            </a:r>
            <a:endParaRPr lang="en-US" sz="15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30"/>
              </a:lnSpc>
              <a:buNone/>
            </a:pPr>
            <a:r>
              <a:rPr lang="en-US" sz="26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Оценка модели: как считаем верно/неверно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566160" y="1828800"/>
            <a:ext cx="1828800" cy="914400"/>
          </a:xfrm>
          <a:prstGeom prst="roundRect">
            <a:avLst>
              <a:gd name="adj" fmla="val 8000"/>
            </a:avLst>
          </a:prstGeom>
          <a:solidFill>
            <a:srgbClr val="EFF6FF"/>
          </a:solidFill>
          <a:ln w="1905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KZ"/>
          </a:p>
        </p:txBody>
      </p:sp>
      <p:sp>
        <p:nvSpPr>
          <p:cNvPr id="4" name="Text 2"/>
          <p:cNvSpPr/>
          <p:nvPr/>
        </p:nvSpPr>
        <p:spPr>
          <a:xfrm>
            <a:off x="3566160" y="182880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ОБУЧЕННАЯ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МОДЕЛЬ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874520"/>
            <a:ext cx="1737360" cy="822960"/>
          </a:xfrm>
          <a:prstGeom prst="roundRect">
            <a:avLst>
              <a:gd name="adj" fmla="val 6667"/>
            </a:avLst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KZ"/>
          </a:p>
        </p:txBody>
      </p:sp>
      <p:sp>
        <p:nvSpPr>
          <p:cNvPr id="6" name="Text 4"/>
          <p:cNvSpPr/>
          <p:nvPr/>
        </p:nvSpPr>
        <p:spPr>
          <a:xfrm>
            <a:off x="676656" y="1874520"/>
            <a:ext cx="16642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Тестовое изображение</a:t>
            </a:r>
            <a:endParaRPr lang="en-US" sz="1150" dirty="0"/>
          </a:p>
          <a:p>
            <a:pPr marL="0" indent="0" algn="ctr">
              <a:lnSpc>
                <a:spcPts val="13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(из X_test)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2395728" y="2286000"/>
            <a:ext cx="1152144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  <p:txBody>
          <a:bodyPr/>
          <a:lstStyle/>
          <a:p>
            <a:endParaRPr lang="en-KZ"/>
          </a:p>
        </p:txBody>
      </p:sp>
      <p:sp>
        <p:nvSpPr>
          <p:cNvPr id="8" name="Shape 6"/>
          <p:cNvSpPr/>
          <p:nvPr/>
        </p:nvSpPr>
        <p:spPr>
          <a:xfrm>
            <a:off x="640080" y="3017520"/>
            <a:ext cx="1737360" cy="640080"/>
          </a:xfrm>
          <a:prstGeom prst="roundRect">
            <a:avLst>
              <a:gd name="adj" fmla="val 8571"/>
            </a:avLst>
          </a:prstGeom>
          <a:solidFill>
            <a:srgbClr val="ECFDF3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KZ"/>
          </a:p>
        </p:txBody>
      </p:sp>
      <p:sp>
        <p:nvSpPr>
          <p:cNvPr id="9" name="Text 7"/>
          <p:cNvSpPr/>
          <p:nvPr/>
        </p:nvSpPr>
        <p:spPr>
          <a:xfrm>
            <a:off x="685800" y="301752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Верная метка (y_test): </a:t>
            </a: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СОБАКА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44348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 нас есть верная метка из y_test.</a:t>
            </a:r>
            <a:endParaRPr lang="en-US" sz="15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30"/>
              </a:lnSpc>
              <a:buNone/>
            </a:pPr>
            <a:r>
              <a:rPr lang="en-US" sz="26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Оценка модели: как считаем верно/неверно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566160" y="1828800"/>
            <a:ext cx="1828800" cy="914400"/>
          </a:xfrm>
          <a:prstGeom prst="roundRect">
            <a:avLst>
              <a:gd name="adj" fmla="val 8000"/>
            </a:avLst>
          </a:prstGeom>
          <a:solidFill>
            <a:srgbClr val="EFF6FF"/>
          </a:solidFill>
          <a:ln w="1905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KZ"/>
          </a:p>
        </p:txBody>
      </p:sp>
      <p:sp>
        <p:nvSpPr>
          <p:cNvPr id="4" name="Text 2"/>
          <p:cNvSpPr/>
          <p:nvPr/>
        </p:nvSpPr>
        <p:spPr>
          <a:xfrm>
            <a:off x="3566160" y="182880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ОБУЧЕННАЯ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МОДЕЛЬ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874520"/>
            <a:ext cx="1737360" cy="822960"/>
          </a:xfrm>
          <a:prstGeom prst="roundRect">
            <a:avLst>
              <a:gd name="adj" fmla="val 6667"/>
            </a:avLst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KZ"/>
          </a:p>
        </p:txBody>
      </p:sp>
      <p:sp>
        <p:nvSpPr>
          <p:cNvPr id="6" name="Text 4"/>
          <p:cNvSpPr/>
          <p:nvPr/>
        </p:nvSpPr>
        <p:spPr>
          <a:xfrm>
            <a:off x="676656" y="1874520"/>
            <a:ext cx="16642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Тестовое изображение</a:t>
            </a:r>
            <a:endParaRPr lang="en-US" sz="1150" dirty="0"/>
          </a:p>
          <a:p>
            <a:pPr marL="0" indent="0" algn="ctr">
              <a:lnSpc>
                <a:spcPts val="13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(из X_test)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2395728" y="2286000"/>
            <a:ext cx="1152144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  <p:txBody>
          <a:bodyPr/>
          <a:lstStyle/>
          <a:p>
            <a:endParaRPr lang="en-KZ"/>
          </a:p>
        </p:txBody>
      </p:sp>
      <p:sp>
        <p:nvSpPr>
          <p:cNvPr id="8" name="Shape 6"/>
          <p:cNvSpPr/>
          <p:nvPr/>
        </p:nvSpPr>
        <p:spPr>
          <a:xfrm>
            <a:off x="640080" y="3017520"/>
            <a:ext cx="1737360" cy="640080"/>
          </a:xfrm>
          <a:prstGeom prst="roundRect">
            <a:avLst>
              <a:gd name="adj" fmla="val 8571"/>
            </a:avLst>
          </a:prstGeom>
          <a:solidFill>
            <a:srgbClr val="ECFDF3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KZ"/>
          </a:p>
        </p:txBody>
      </p:sp>
      <p:sp>
        <p:nvSpPr>
          <p:cNvPr id="9" name="Text 7"/>
          <p:cNvSpPr/>
          <p:nvPr/>
        </p:nvSpPr>
        <p:spPr>
          <a:xfrm>
            <a:off x="685800" y="301752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Верная метка (y_test): </a:t>
            </a: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СОБАКА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1874520"/>
            <a:ext cx="1737360" cy="822960"/>
          </a:xfrm>
          <a:prstGeom prst="roundRect">
            <a:avLst>
              <a:gd name="adj" fmla="val 6667"/>
            </a:avLst>
          </a:prstGeom>
          <a:solidFill>
            <a:srgbClr val="FFF7ED"/>
          </a:solidFill>
          <a:ln w="12700">
            <a:solidFill>
              <a:srgbClr val="C2680C"/>
            </a:solidFill>
            <a:prstDash val="solid"/>
          </a:ln>
        </p:spPr>
        <p:txBody>
          <a:bodyPr/>
          <a:lstStyle/>
          <a:p>
            <a:endParaRPr lang="en-KZ"/>
          </a:p>
        </p:txBody>
      </p:sp>
      <p:sp>
        <p:nvSpPr>
          <p:cNvPr id="11" name="Text 9"/>
          <p:cNvSpPr/>
          <p:nvPr/>
        </p:nvSpPr>
        <p:spPr>
          <a:xfrm>
            <a:off x="6446520" y="187452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Предсказание: </a:t>
            </a: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СОБАКА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13248" y="2286000"/>
            <a:ext cx="969264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  <p:txBody>
          <a:bodyPr/>
          <a:lstStyle/>
          <a:p>
            <a:endParaRPr lang="en-KZ"/>
          </a:p>
        </p:txBody>
      </p:sp>
      <p:sp>
        <p:nvSpPr>
          <p:cNvPr id="13" name="Text 11"/>
          <p:cNvSpPr/>
          <p:nvPr/>
        </p:nvSpPr>
        <p:spPr>
          <a:xfrm>
            <a:off x="640080" y="44348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Модель выдаёт предсказание.</a:t>
            </a:r>
            <a:endParaRPr lang="en-US" sz="15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30"/>
              </a:lnSpc>
              <a:buNone/>
            </a:pPr>
            <a:r>
              <a:rPr lang="en-US" sz="26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Оценка модели: как считаем верно/неверно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566160" y="1828800"/>
            <a:ext cx="1828800" cy="914400"/>
          </a:xfrm>
          <a:prstGeom prst="roundRect">
            <a:avLst>
              <a:gd name="adj" fmla="val 8000"/>
            </a:avLst>
          </a:prstGeom>
          <a:solidFill>
            <a:srgbClr val="EFF6FF"/>
          </a:solidFill>
          <a:ln w="1905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KZ"/>
          </a:p>
        </p:txBody>
      </p:sp>
      <p:sp>
        <p:nvSpPr>
          <p:cNvPr id="4" name="Text 2"/>
          <p:cNvSpPr/>
          <p:nvPr/>
        </p:nvSpPr>
        <p:spPr>
          <a:xfrm>
            <a:off x="3566160" y="182880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ОБУЧЕННАЯ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МОДЕЛЬ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874520"/>
            <a:ext cx="1737360" cy="822960"/>
          </a:xfrm>
          <a:prstGeom prst="roundRect">
            <a:avLst>
              <a:gd name="adj" fmla="val 6667"/>
            </a:avLst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KZ"/>
          </a:p>
        </p:txBody>
      </p:sp>
      <p:sp>
        <p:nvSpPr>
          <p:cNvPr id="6" name="Text 4"/>
          <p:cNvSpPr/>
          <p:nvPr/>
        </p:nvSpPr>
        <p:spPr>
          <a:xfrm>
            <a:off x="676656" y="1874520"/>
            <a:ext cx="16642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Тестовое изображение</a:t>
            </a:r>
            <a:endParaRPr lang="en-US" sz="1150" dirty="0"/>
          </a:p>
          <a:p>
            <a:pPr marL="0" indent="0" algn="ctr">
              <a:lnSpc>
                <a:spcPts val="13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(из X_test)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2395728" y="2286000"/>
            <a:ext cx="1152144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  <p:txBody>
          <a:bodyPr/>
          <a:lstStyle/>
          <a:p>
            <a:endParaRPr lang="en-KZ"/>
          </a:p>
        </p:txBody>
      </p:sp>
      <p:sp>
        <p:nvSpPr>
          <p:cNvPr id="8" name="Shape 6"/>
          <p:cNvSpPr/>
          <p:nvPr/>
        </p:nvSpPr>
        <p:spPr>
          <a:xfrm>
            <a:off x="640080" y="3017520"/>
            <a:ext cx="1737360" cy="640080"/>
          </a:xfrm>
          <a:prstGeom prst="roundRect">
            <a:avLst>
              <a:gd name="adj" fmla="val 8571"/>
            </a:avLst>
          </a:prstGeom>
          <a:solidFill>
            <a:srgbClr val="ECFDF3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KZ"/>
          </a:p>
        </p:txBody>
      </p:sp>
      <p:sp>
        <p:nvSpPr>
          <p:cNvPr id="9" name="Text 7"/>
          <p:cNvSpPr/>
          <p:nvPr/>
        </p:nvSpPr>
        <p:spPr>
          <a:xfrm>
            <a:off x="685800" y="301752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Верная метка (y_test): </a:t>
            </a: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СОБАКА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1874520"/>
            <a:ext cx="1737360" cy="822960"/>
          </a:xfrm>
          <a:prstGeom prst="roundRect">
            <a:avLst>
              <a:gd name="adj" fmla="val 6667"/>
            </a:avLst>
          </a:prstGeom>
          <a:solidFill>
            <a:srgbClr val="FFF7ED"/>
          </a:solidFill>
          <a:ln w="12700">
            <a:solidFill>
              <a:srgbClr val="C2680C"/>
            </a:solidFill>
            <a:prstDash val="solid"/>
          </a:ln>
        </p:spPr>
        <p:txBody>
          <a:bodyPr/>
          <a:lstStyle/>
          <a:p>
            <a:endParaRPr lang="en-KZ"/>
          </a:p>
        </p:txBody>
      </p:sp>
      <p:sp>
        <p:nvSpPr>
          <p:cNvPr id="11" name="Text 9"/>
          <p:cNvSpPr/>
          <p:nvPr/>
        </p:nvSpPr>
        <p:spPr>
          <a:xfrm>
            <a:off x="6446520" y="187452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Предсказание: </a:t>
            </a: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СОБАКА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13248" y="2286000"/>
            <a:ext cx="969264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  <p:txBody>
          <a:bodyPr/>
          <a:lstStyle/>
          <a:p>
            <a:endParaRPr lang="en-KZ"/>
          </a:p>
        </p:txBody>
      </p:sp>
      <p:sp>
        <p:nvSpPr>
          <p:cNvPr id="13" name="Shape 11"/>
          <p:cNvSpPr/>
          <p:nvPr/>
        </p:nvSpPr>
        <p:spPr>
          <a:xfrm>
            <a:off x="2468880" y="3931920"/>
            <a:ext cx="502920" cy="50292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KZ"/>
          </a:p>
        </p:txBody>
      </p:sp>
      <p:sp>
        <p:nvSpPr>
          <p:cNvPr id="14" name="Text 12"/>
          <p:cNvSpPr/>
          <p:nvPr/>
        </p:nvSpPr>
        <p:spPr>
          <a:xfrm>
            <a:off x="2468880" y="3931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3108960" y="3931920"/>
            <a:ext cx="3566160" cy="502920"/>
          </a:xfrm>
          <a:prstGeom prst="roundRect">
            <a:avLst>
              <a:gd name="adj" fmla="val 10909"/>
            </a:avLst>
          </a:prstGeom>
          <a:solidFill>
            <a:srgbClr val="ECFDF3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KZ"/>
          </a:p>
        </p:txBody>
      </p:sp>
      <p:sp>
        <p:nvSpPr>
          <p:cNvPr id="16" name="Text 14"/>
          <p:cNvSpPr/>
          <p:nvPr/>
        </p:nvSpPr>
        <p:spPr>
          <a:xfrm>
            <a:off x="3108960" y="393192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СОБАКА  ==  СОБАКА   →  верно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0080" y="44348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Сравниваем предсказание с верной меткой: совпало.</a:t>
            </a:r>
            <a:endParaRPr lang="en-US" sz="15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30"/>
              </a:lnSpc>
              <a:buNone/>
            </a:pPr>
            <a:r>
              <a:rPr lang="en-US" sz="26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Оценка модели: как считаем верно/неверно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566160" y="1828800"/>
            <a:ext cx="1828800" cy="914400"/>
          </a:xfrm>
          <a:prstGeom prst="roundRect">
            <a:avLst>
              <a:gd name="adj" fmla="val 8000"/>
            </a:avLst>
          </a:prstGeom>
          <a:solidFill>
            <a:srgbClr val="EFF6FF"/>
          </a:solidFill>
          <a:ln w="1905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KZ"/>
          </a:p>
        </p:txBody>
      </p:sp>
      <p:sp>
        <p:nvSpPr>
          <p:cNvPr id="4" name="Text 2"/>
          <p:cNvSpPr/>
          <p:nvPr/>
        </p:nvSpPr>
        <p:spPr>
          <a:xfrm>
            <a:off x="3566160" y="182880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ОБУЧЕННАЯ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МОДЕЛЬ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874520"/>
            <a:ext cx="1737360" cy="822960"/>
          </a:xfrm>
          <a:prstGeom prst="roundRect">
            <a:avLst>
              <a:gd name="adj" fmla="val 6667"/>
            </a:avLst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KZ"/>
          </a:p>
        </p:txBody>
      </p:sp>
      <p:sp>
        <p:nvSpPr>
          <p:cNvPr id="6" name="Text 4"/>
          <p:cNvSpPr/>
          <p:nvPr/>
        </p:nvSpPr>
        <p:spPr>
          <a:xfrm>
            <a:off x="676656" y="1874520"/>
            <a:ext cx="16642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Тестовое изображение</a:t>
            </a:r>
            <a:endParaRPr lang="en-US" sz="1150" dirty="0"/>
          </a:p>
          <a:p>
            <a:pPr marL="0" indent="0" algn="ctr">
              <a:lnSpc>
                <a:spcPts val="13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(из X_test)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2395728" y="2286000"/>
            <a:ext cx="1152144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  <p:txBody>
          <a:bodyPr/>
          <a:lstStyle/>
          <a:p>
            <a:endParaRPr lang="en-KZ"/>
          </a:p>
        </p:txBody>
      </p:sp>
      <p:sp>
        <p:nvSpPr>
          <p:cNvPr id="8" name="Shape 6"/>
          <p:cNvSpPr/>
          <p:nvPr/>
        </p:nvSpPr>
        <p:spPr>
          <a:xfrm>
            <a:off x="640080" y="3017520"/>
            <a:ext cx="1737360" cy="640080"/>
          </a:xfrm>
          <a:prstGeom prst="roundRect">
            <a:avLst>
              <a:gd name="adj" fmla="val 8571"/>
            </a:avLst>
          </a:prstGeom>
          <a:solidFill>
            <a:srgbClr val="ECFDF3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KZ"/>
          </a:p>
        </p:txBody>
      </p:sp>
      <p:sp>
        <p:nvSpPr>
          <p:cNvPr id="9" name="Text 7"/>
          <p:cNvSpPr/>
          <p:nvPr/>
        </p:nvSpPr>
        <p:spPr>
          <a:xfrm>
            <a:off x="685800" y="301752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Верная метка (y_test): </a:t>
            </a: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СОБАКА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1874520"/>
            <a:ext cx="1737360" cy="822960"/>
          </a:xfrm>
          <a:prstGeom prst="roundRect">
            <a:avLst>
              <a:gd name="adj" fmla="val 6667"/>
            </a:avLst>
          </a:prstGeom>
          <a:solidFill>
            <a:srgbClr val="FFF7ED"/>
          </a:solidFill>
          <a:ln w="12700">
            <a:solidFill>
              <a:srgbClr val="C2680C"/>
            </a:solidFill>
            <a:prstDash val="solid"/>
          </a:ln>
        </p:spPr>
        <p:txBody>
          <a:bodyPr/>
          <a:lstStyle/>
          <a:p>
            <a:endParaRPr lang="en-KZ"/>
          </a:p>
        </p:txBody>
      </p:sp>
      <p:sp>
        <p:nvSpPr>
          <p:cNvPr id="11" name="Text 9"/>
          <p:cNvSpPr/>
          <p:nvPr/>
        </p:nvSpPr>
        <p:spPr>
          <a:xfrm>
            <a:off x="6446520" y="187452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Предсказание: </a:t>
            </a:r>
            <a:r>
              <a:rPr lang="en-US" sz="1100" b="1" dirty="0">
                <a:solidFill>
                  <a:srgbClr val="C26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КОШКА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13248" y="2286000"/>
            <a:ext cx="969264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  <p:txBody>
          <a:bodyPr/>
          <a:lstStyle/>
          <a:p>
            <a:endParaRPr lang="en-KZ"/>
          </a:p>
        </p:txBody>
      </p:sp>
      <p:sp>
        <p:nvSpPr>
          <p:cNvPr id="13" name="Shape 11"/>
          <p:cNvSpPr/>
          <p:nvPr/>
        </p:nvSpPr>
        <p:spPr>
          <a:xfrm>
            <a:off x="2468880" y="3931920"/>
            <a:ext cx="502920" cy="50292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KZ"/>
          </a:p>
        </p:txBody>
      </p:sp>
      <p:sp>
        <p:nvSpPr>
          <p:cNvPr id="14" name="Text 12"/>
          <p:cNvSpPr/>
          <p:nvPr/>
        </p:nvSpPr>
        <p:spPr>
          <a:xfrm>
            <a:off x="2468880" y="3931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3108960" y="3931920"/>
            <a:ext cx="3566160" cy="502920"/>
          </a:xfrm>
          <a:prstGeom prst="roundRect">
            <a:avLst>
              <a:gd name="adj" fmla="val 10909"/>
            </a:avLst>
          </a:prstGeom>
          <a:solidFill>
            <a:srgbClr val="FFF7ED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KZ"/>
          </a:p>
        </p:txBody>
      </p:sp>
      <p:sp>
        <p:nvSpPr>
          <p:cNvPr id="16" name="Text 14"/>
          <p:cNvSpPr/>
          <p:nvPr/>
        </p:nvSpPr>
        <p:spPr>
          <a:xfrm>
            <a:off x="3108960" y="393192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СОБАКА  ==  КОШКА   →  неверно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0080" y="44348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 здесь предсказание не совпало с меткой.</a:t>
            </a:r>
            <a:endParaRPr lang="en-US" sz="15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30"/>
              </a:lnSpc>
              <a:buNone/>
            </a:pPr>
            <a:r>
              <a:rPr lang="en-US" sz="26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Повторяем для всех изображений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15544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932688" y="1554480"/>
            <a:ext cx="7799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74"/>
              </a:lnSpc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Повторяем процесс для всех изображений тестового набора X_test.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40080" y="197510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32688" y="1975104"/>
            <a:ext cx="7799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74"/>
              </a:lnSpc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итоге получаем число верных и число неверных совпадений.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40080" y="23957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32688" y="2395728"/>
            <a:ext cx="77998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74"/>
              </a:lnSpc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Ключевая мысль: в реальном мире </a:t>
            </a:r>
            <a:r>
              <a:rPr lang="en-US" sz="17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все ошибки и попадания равноценны</a:t>
            </a: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7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30"/>
              </a:lnSpc>
              <a:buNone/>
            </a:pPr>
            <a:r>
              <a:rPr lang="en-US" sz="26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Одной метрики мало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15544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932688" y="1554480"/>
            <a:ext cx="7799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74"/>
              </a:lnSpc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реальном мире одна метрика не расскажет всю историю.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40080" y="197510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32688" y="1975104"/>
            <a:ext cx="77998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74"/>
              </a:lnSpc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Чтобы разобраться, вернём четыре метрики и посмотрим, как они считаются.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40080" y="26700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32688" y="2670048"/>
            <a:ext cx="77998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74"/>
              </a:lnSpc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Предсказанные и истинные значения удобно свести в </a:t>
            </a:r>
            <a:r>
              <a:rPr lang="en-US" sz="17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матрицу ошибок (confusion matrix)</a:t>
            </a: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7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30"/>
              </a:lnSpc>
              <a:buNone/>
            </a:pPr>
            <a:r>
              <a:rPr lang="en-US" sz="26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Accuracy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12801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932688" y="1280160"/>
            <a:ext cx="77998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74"/>
              </a:lnSpc>
              <a:buNone/>
            </a:pPr>
            <a:r>
              <a:rPr lang="en-US" sz="17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доля верных предсказаний, делённая на общее число предсказаний.</a:t>
            </a:r>
            <a:endParaRPr lang="en-US" sz="1700" dirty="0"/>
          </a:p>
        </p:txBody>
      </p:sp>
      <p:pic>
        <p:nvPicPr>
          <p:cNvPr id="5" name="Image 0" descr="f_accurac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9462" y="2117882"/>
            <a:ext cx="5486400" cy="1241928"/>
          </a:xfrm>
          <a:prstGeom prst="rect">
            <a:avLst/>
          </a:prstGeom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30"/>
              </a:lnSpc>
              <a:buNone/>
            </a:pPr>
            <a:r>
              <a:rPr lang="en-US" sz="26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Accuracy: пример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17373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932688" y="1737360"/>
            <a:ext cx="77998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74"/>
              </a:lnSpc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Если в X_test было 100 изображений и модель верно угадала 80, то это </a:t>
            </a:r>
            <a:r>
              <a:rPr lang="en-US" sz="1700" dirty="0">
                <a:solidFill>
                  <a:srgbClr val="C26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80/100</a:t>
            </a: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40080" y="243230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32688" y="2432304"/>
            <a:ext cx="7799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74"/>
              </a:lnSpc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Получаем </a:t>
            </a:r>
            <a:r>
              <a:rPr lang="en-US" sz="1700" dirty="0">
                <a:solidFill>
                  <a:srgbClr val="C26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</a:t>
            </a: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или </a:t>
            </a:r>
            <a:r>
              <a:rPr lang="en-US" sz="1700" dirty="0">
                <a:solidFill>
                  <a:srgbClr val="C26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</a:t>
            </a: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accuracy.</a:t>
            </a:r>
            <a:endParaRPr lang="en-US" sz="170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30"/>
              </a:lnSpc>
              <a:buNone/>
            </a:pPr>
            <a:r>
              <a:rPr lang="en-US" sz="26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Accuracy: когда полезна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17373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932688" y="1737360"/>
            <a:ext cx="7799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74"/>
              </a:lnSpc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полезна, когда классы хорошо </a:t>
            </a:r>
            <a:r>
              <a:rPr lang="en-US" sz="17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сбалансированы</a:t>
            </a: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40080" y="21579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32688" y="2157984"/>
            <a:ext cx="7799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74"/>
              </a:lnSpc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нашем примере, примерно поровну изображений кошек и собак.</a:t>
            </a:r>
            <a:endParaRPr lang="en-US" sz="170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30"/>
              </a:lnSpc>
              <a:buNone/>
            </a:pPr>
            <a:r>
              <a:rPr lang="en-US" sz="26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Accuracy: когда обманывает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15544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932688" y="1554480"/>
            <a:ext cx="7799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74"/>
              </a:lnSpc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Accuracy, плохой выбор при </a:t>
            </a:r>
            <a:r>
              <a:rPr lang="en-US" sz="1700" dirty="0">
                <a:solidFill>
                  <a:srgbClr val="C26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несбалансированных классах</a:t>
            </a: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40080" y="197510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32688" y="1975104"/>
            <a:ext cx="7799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74"/>
              </a:lnSpc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Представим 99 изображений собак и 1 кошки.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40080" y="23957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32688" y="2395728"/>
            <a:ext cx="7799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74"/>
              </a:lnSpc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Модель, которая всегда предсказывает «собака», даст </a:t>
            </a:r>
            <a:r>
              <a:rPr lang="en-US" sz="1700" dirty="0">
                <a:solidFill>
                  <a:srgbClr val="C26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99%</a:t>
            </a: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accuracy.</a:t>
            </a:r>
            <a:endParaRPr lang="en-US" sz="170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30"/>
              </a:lnSpc>
              <a:buNone/>
            </a:pPr>
            <a:r>
              <a:rPr lang="en-US" sz="26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Accuracy: что делать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17373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932688" y="1737360"/>
            <a:ext cx="7799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74"/>
              </a:lnSpc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 собак и 1 кошка: модель «всегда собака», и формально </a:t>
            </a:r>
            <a:r>
              <a:rPr lang="en-US" sz="1700" dirty="0">
                <a:solidFill>
                  <a:srgbClr val="C26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99%</a:t>
            </a: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40080" y="21579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32688" y="2157984"/>
            <a:ext cx="7799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74"/>
              </a:lnSpc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такой ситуации нужно понимать </a:t>
            </a:r>
            <a:r>
              <a:rPr lang="en-US" sz="17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и </a:t>
            </a:r>
            <a:r>
              <a:rPr lang="en-US" sz="17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70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30"/>
              </a:lnSpc>
              <a:buNone/>
            </a:pPr>
            <a:r>
              <a:rPr lang="en-US" sz="26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Recall (полнота)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12801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932688" y="1280160"/>
            <a:ext cx="7799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74"/>
              </a:lnSpc>
              <a:buNone/>
            </a:pPr>
            <a:r>
              <a:rPr lang="en-US" sz="17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способность модели найти все релевантные случаи в данных.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40080" y="17007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32688" y="1700784"/>
            <a:ext cx="77998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74"/>
              </a:lnSpc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Это число истинно-положительных, делённое на сумму истинно-положительных и ложно-отрицательных.</a:t>
            </a:r>
            <a:endParaRPr lang="en-US" sz="1700" dirty="0"/>
          </a:p>
        </p:txBody>
      </p:sp>
      <p:pic>
        <p:nvPicPr>
          <p:cNvPr id="7" name="Image 0" descr="f_reca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1845" y="3017520"/>
            <a:ext cx="520031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30"/>
              </a:lnSpc>
              <a:buNone/>
            </a:pPr>
            <a:r>
              <a:rPr lang="en-US" sz="26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Precision (точность)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12801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932688" y="1280160"/>
            <a:ext cx="7799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74"/>
              </a:lnSpc>
              <a:buNone/>
            </a:pPr>
            <a:r>
              <a:rPr lang="en-US" sz="17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способность модели отбирать только релевантные объекты.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40080" y="17007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32688" y="1700784"/>
            <a:ext cx="77998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74"/>
              </a:lnSpc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Это число истинно-положительных, делённое на сумму истинно-положительных и ложно-положительных.</a:t>
            </a:r>
            <a:endParaRPr lang="en-US" sz="1700" dirty="0"/>
          </a:p>
        </p:txBody>
      </p:sp>
      <p:pic>
        <p:nvPicPr>
          <p:cNvPr id="7" name="Image 0" descr="f_precis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3080612"/>
            <a:ext cx="5486400" cy="1336855"/>
          </a:xfrm>
          <a:prstGeom prst="rect">
            <a:avLst/>
          </a:prstGeom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30"/>
              </a:lnSpc>
              <a:buNone/>
            </a:pPr>
            <a:r>
              <a:rPr lang="en-US" sz="26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Recall и Precision: компромисс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15544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932688" y="1554480"/>
            <a:ext cx="7799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74"/>
              </a:lnSpc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Часто между </a:t>
            </a:r>
            <a:r>
              <a:rPr lang="en-US" sz="17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и </a:t>
            </a:r>
            <a:r>
              <a:rPr lang="en-US" sz="17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есть компромисс (trade-off).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40080" y="197510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32688" y="1975104"/>
            <a:ext cx="7799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74"/>
              </a:lnSpc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выражает способность найти все релевантные случаи.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40080" y="23957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32688" y="2395728"/>
            <a:ext cx="77998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74"/>
              </a:lnSpc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выражает, какая доля отмеченных моделью объектов и правда релевантна.</a:t>
            </a:r>
            <a:endParaRPr lang="en-US" sz="170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30"/>
              </a:lnSpc>
              <a:buNone/>
            </a:pPr>
            <a:r>
              <a:rPr lang="en-US" sz="26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F1-score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1920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932688" y="1920240"/>
            <a:ext cx="77998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74"/>
              </a:lnSpc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Когда нужен оптимальный баланс precision и recall, две метрики объединяют в </a:t>
            </a:r>
            <a:r>
              <a:rPr lang="en-US" sz="17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</a:t>
            </a: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700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30"/>
              </a:lnSpc>
              <a:buNone/>
            </a:pPr>
            <a:r>
              <a:rPr lang="en-US" sz="26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F1-score: формула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12801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932688" y="1280160"/>
            <a:ext cx="77998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74"/>
              </a:lnSpc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F1, это </a:t>
            </a:r>
            <a:r>
              <a:rPr lang="en-US" sz="17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гармоническое среднее</a:t>
            </a: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precision и recall, учитывающее обе метрики:</a:t>
            </a:r>
            <a:endParaRPr lang="en-US" sz="1700" dirty="0"/>
          </a:p>
        </p:txBody>
      </p:sp>
      <p:pic>
        <p:nvPicPr>
          <p:cNvPr id="5" name="Image 0" descr="f_f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3096050"/>
            <a:ext cx="5486400" cy="1305981"/>
          </a:xfrm>
          <a:prstGeom prst="rect">
            <a:avLst/>
          </a:prstGeom>
        </p:spPr>
      </p:pic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30"/>
              </a:lnSpc>
              <a:buNone/>
            </a:pPr>
            <a:r>
              <a:rPr lang="en-US" sz="26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Почему гармоническое среднее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17373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932688" y="1737360"/>
            <a:ext cx="77998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74"/>
              </a:lnSpc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Гармоническое среднее вместо обычного, потому что оно </a:t>
            </a:r>
            <a:r>
              <a:rPr lang="en-US" sz="1700" dirty="0">
                <a:solidFill>
                  <a:srgbClr val="C26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штрафует крайности</a:t>
            </a: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40080" y="243230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32688" y="2432304"/>
            <a:ext cx="77998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74"/>
              </a:lnSpc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 precision = 1.0 и recall = 0.0 обычное среднее даёт 0.5, а F1 равен </a:t>
            </a:r>
            <a:r>
              <a:rPr lang="en-US" sz="1700" dirty="0">
                <a:solidFill>
                  <a:srgbClr val="C26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700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30"/>
              </a:lnSpc>
              <a:buNone/>
            </a:pPr>
            <a:r>
              <a:rPr lang="en-US" sz="26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Сводим в таблицу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1920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932688" y="1920240"/>
            <a:ext cx="77998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74"/>
              </a:lnSpc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 верно и неверно классифицированные случаи удобно представить в виде </a:t>
            </a:r>
            <a:r>
              <a:rPr lang="en-US" sz="17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матрицы ошибок (confusion matrix)</a:t>
            </a: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700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30"/>
              </a:lnSpc>
              <a:buNone/>
            </a:pPr>
            <a:r>
              <a:rPr lang="en-US" sz="26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Матрица ошибок (confusion matrix)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2377440" y="12801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Предсказано: положит.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846320" y="12801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Предсказано: отрицат.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60120" y="1783080"/>
            <a:ext cx="13258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Факт:</a:t>
            </a:r>
            <a:endParaRPr lang="en-US" sz="1200" dirty="0"/>
          </a:p>
          <a:p>
            <a:pPr marL="0" indent="0" algn="r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положит.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60120" y="2926080"/>
            <a:ext cx="13258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Факт:</a:t>
            </a:r>
            <a:endParaRPr lang="en-US" sz="1200" dirty="0"/>
          </a:p>
          <a:p>
            <a:pPr marL="0" indent="0" algn="r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отрицат.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377440" y="1783080"/>
            <a:ext cx="2468880" cy="1143000"/>
          </a:xfrm>
          <a:prstGeom prst="rect">
            <a:avLst/>
          </a:prstGeom>
          <a:solidFill>
            <a:srgbClr val="ECFDF3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KZ"/>
          </a:p>
        </p:txBody>
      </p:sp>
      <p:sp>
        <p:nvSpPr>
          <p:cNvPr id="8" name="Text 6"/>
          <p:cNvSpPr/>
          <p:nvPr/>
        </p:nvSpPr>
        <p:spPr>
          <a:xfrm>
            <a:off x="2432304" y="1783080"/>
            <a:ext cx="23591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
</a:t>
            </a: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истинно-положит.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846320" y="1783080"/>
            <a:ext cx="2468880" cy="1143000"/>
          </a:xfrm>
          <a:prstGeom prst="rect">
            <a:avLst/>
          </a:prstGeom>
          <a:solidFill>
            <a:srgbClr val="FFF7ED"/>
          </a:solidFill>
          <a:ln w="12700">
            <a:solidFill>
              <a:srgbClr val="C2680C"/>
            </a:solidFill>
            <a:prstDash val="solid"/>
          </a:ln>
        </p:spPr>
        <p:txBody>
          <a:bodyPr/>
          <a:lstStyle/>
          <a:p>
            <a:endParaRPr lang="en-KZ"/>
          </a:p>
        </p:txBody>
      </p:sp>
      <p:sp>
        <p:nvSpPr>
          <p:cNvPr id="10" name="Text 8"/>
          <p:cNvSpPr/>
          <p:nvPr/>
        </p:nvSpPr>
        <p:spPr>
          <a:xfrm>
            <a:off x="4901184" y="1783080"/>
            <a:ext cx="23591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FN
</a:t>
            </a: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ложно-отрицат. (ошибка II рода)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377440" y="2926080"/>
            <a:ext cx="2468880" cy="1143000"/>
          </a:xfrm>
          <a:prstGeom prst="rect">
            <a:avLst/>
          </a:prstGeom>
          <a:solidFill>
            <a:srgbClr val="FFF7ED"/>
          </a:solidFill>
          <a:ln w="12700">
            <a:solidFill>
              <a:srgbClr val="C2680C"/>
            </a:solidFill>
            <a:prstDash val="solid"/>
          </a:ln>
        </p:spPr>
        <p:txBody>
          <a:bodyPr/>
          <a:lstStyle/>
          <a:p>
            <a:endParaRPr lang="en-KZ"/>
          </a:p>
        </p:txBody>
      </p:sp>
      <p:sp>
        <p:nvSpPr>
          <p:cNvPr id="12" name="Text 10"/>
          <p:cNvSpPr/>
          <p:nvPr/>
        </p:nvSpPr>
        <p:spPr>
          <a:xfrm>
            <a:off x="2432304" y="2926080"/>
            <a:ext cx="23591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
</a:t>
            </a: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ложно-положит. (ошибка I рода)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846320" y="2926080"/>
            <a:ext cx="2468880" cy="1143000"/>
          </a:xfrm>
          <a:prstGeom prst="rect">
            <a:avLst/>
          </a:prstGeom>
          <a:solidFill>
            <a:srgbClr val="ECFDF3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KZ"/>
          </a:p>
        </p:txBody>
      </p:sp>
      <p:sp>
        <p:nvSpPr>
          <p:cNvPr id="14" name="Text 12"/>
          <p:cNvSpPr/>
          <p:nvPr/>
        </p:nvSpPr>
        <p:spPr>
          <a:xfrm>
            <a:off x="4901184" y="2926080"/>
            <a:ext cx="23591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TN
</a:t>
            </a: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истинно-отрицат.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0080" y="44348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 метрики, это разные способы сравнить предсказания с фактом.</a:t>
            </a:r>
            <a:endParaRPr lang="en-US" sz="1500"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30"/>
              </a:lnSpc>
              <a:buNone/>
            </a:pPr>
            <a:r>
              <a:rPr lang="en-US" sz="26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Ошибка I рода и ошибка II рода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463040"/>
            <a:ext cx="3657600" cy="2377440"/>
          </a:xfrm>
          <a:prstGeom prst="roundRect">
            <a:avLst>
              <a:gd name="adj" fmla="val 3077"/>
            </a:avLst>
          </a:prstGeom>
          <a:solidFill>
            <a:srgbClr val="FFF7ED"/>
          </a:solidFill>
          <a:ln w="19050">
            <a:solidFill>
              <a:srgbClr val="C2680C"/>
            </a:solidFill>
            <a:prstDash val="solid"/>
          </a:ln>
        </p:spPr>
        <p:txBody>
          <a:bodyPr/>
          <a:lstStyle/>
          <a:p>
            <a:endParaRPr lang="en-KZ"/>
          </a:p>
        </p:txBody>
      </p:sp>
      <p:sp>
        <p:nvSpPr>
          <p:cNvPr id="4" name="Text 2"/>
          <p:cNvSpPr/>
          <p:nvPr/>
        </p:nvSpPr>
        <p:spPr>
          <a:xfrm>
            <a:off x="822960" y="16002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26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Ошибка I рода (Type I error)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2011680"/>
            <a:ext cx="3291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Ложноположительный результат (false positive).
Модель сказала «да», а на деле «нет».
</a:t>
            </a: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Пример: тест показал болезнь, которой нет.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846320" y="1463040"/>
            <a:ext cx="3657600" cy="2377440"/>
          </a:xfrm>
          <a:prstGeom prst="roundRect">
            <a:avLst>
              <a:gd name="adj" fmla="val 3077"/>
            </a:avLst>
          </a:prstGeom>
          <a:solidFill>
            <a:srgbClr val="EFF6FF"/>
          </a:solidFill>
          <a:ln w="1905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KZ"/>
          </a:p>
        </p:txBody>
      </p:sp>
      <p:sp>
        <p:nvSpPr>
          <p:cNvPr id="7" name="Text 5"/>
          <p:cNvSpPr/>
          <p:nvPr/>
        </p:nvSpPr>
        <p:spPr>
          <a:xfrm>
            <a:off x="5029200" y="16002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Ошибка II рода (Type II error)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029200" y="2011680"/>
            <a:ext cx="3291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Ложноотрицательный результат (false negative).
Модель сказала «нет», а на деле «да».
</a:t>
            </a: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Пример: тест не выявил болезнь, которая есть.</a:t>
            </a:r>
            <a:endParaRPr lang="en-US" sz="1300" dirty="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30"/>
              </a:lnSpc>
              <a:buNone/>
            </a:pPr>
            <a:r>
              <a:rPr lang="en-US" sz="26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Главное про матрицу ошибок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16459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932688" y="1645920"/>
            <a:ext cx="77998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74"/>
              </a:lnSpc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Главное: матрица ошибок и все метрики, это фундаментально способы сравнить </a:t>
            </a:r>
            <a:r>
              <a:rPr lang="en-US" sz="17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предсказанные</a:t>
            </a: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значения с </a:t>
            </a:r>
            <a:r>
              <a:rPr lang="en-US" sz="17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истинными</a:t>
            </a: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40080" y="23408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32688" y="2340864"/>
            <a:ext cx="77998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74"/>
              </a:lnSpc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считать «хорошими» метриками, всегда зависит от конкретной ситуации.</a:t>
            </a:r>
            <a:endParaRPr lang="en-US" sz="1700" dirty="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30"/>
              </a:lnSpc>
              <a:buNone/>
            </a:pPr>
            <a:r>
              <a:rPr lang="en-US" sz="26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Если всё ещё путает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15544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932688" y="1554480"/>
            <a:ext cx="7799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74"/>
              </a:lnSpc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Запутались в матрице ошибок? Это нормально.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40080" y="197510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32688" y="1975104"/>
            <a:ext cx="77998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74"/>
              </a:lnSpc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странице Википедии есть хорошая схема со всеми формулами для всех метрик.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40080" y="26700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32688" y="2670048"/>
            <a:ext cx="7799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74"/>
              </a:lnSpc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ходе обучения мы обычно просто выводим метрики, например accuracy.</a:t>
            </a:r>
            <a:endParaRPr lang="en-US" sz="1700" dirty="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30"/>
              </a:lnSpc>
              <a:buNone/>
            </a:pPr>
            <a:r>
              <a:rPr lang="en-US" sz="26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Какая accuracy достаточно хороша?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14630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932688" y="1463040"/>
            <a:ext cx="7799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74"/>
              </a:lnSpc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Вернёмся к вопросу: какая accuracy достаточно хороша?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40080" y="18836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32688" y="1883664"/>
            <a:ext cx="7799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74"/>
              </a:lnSpc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Всё зависит от контекста ситуации.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40080" y="23042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32688" y="2304288"/>
            <a:ext cx="7799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74"/>
              </a:lnSpc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 делали модель для выявления болезни?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40080" y="27249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932688" y="2724912"/>
            <a:ext cx="77998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74"/>
              </a:lnSpc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Сбалансирована ли встречаемость болезни в популяции? (Скорее всего нет.)</a:t>
            </a:r>
            <a:endParaRPr lang="en-US" sz="1700" dirty="0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30"/>
              </a:lnSpc>
              <a:buNone/>
            </a:pPr>
            <a:r>
              <a:rPr lang="en-US" sz="26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Цена ошибки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16459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932688" y="1645920"/>
            <a:ext cx="77998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74"/>
              </a:lnSpc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Часто модели, это быстрый предварительный тест перед более инвазивной процедурой (например, анализ мочи перед биопсией).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40080" y="23408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32688" y="2340864"/>
            <a:ext cx="7799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74"/>
              </a:lnSpc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Нужно учитывать, что поставлено на кон.</a:t>
            </a:r>
            <a:endParaRPr lang="en-US" sz="1700" dirty="0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30"/>
              </a:lnSpc>
              <a:buNone/>
            </a:pPr>
            <a:r>
              <a:rPr lang="en-US" sz="26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FP против FN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15544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932688" y="1554480"/>
            <a:ext cx="77998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74"/>
              </a:lnSpc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Часто есть компромисс precision/recall. Надо решить, на что давить: на </a:t>
            </a:r>
            <a:r>
              <a:rPr lang="en-US" sz="1700" dirty="0">
                <a:solidFill>
                  <a:srgbClr val="C26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ложноположительные (FP)</a:t>
            </a: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или </a:t>
            </a:r>
            <a:r>
              <a:rPr lang="en-US" sz="1700" dirty="0">
                <a:solidFill>
                  <a:srgbClr val="C26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ложноотрицательные (FN)</a:t>
            </a: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40080" y="224942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32688" y="2249424"/>
            <a:ext cx="77998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74"/>
              </a:lnSpc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диагностике болезни лучше склониться к ложноположительным, чтобы поймать как можно больше реальных случаев.</a:t>
            </a:r>
            <a:endParaRPr lang="en-US" sz="1700" dirty="0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30"/>
              </a:lnSpc>
              <a:buNone/>
            </a:pPr>
            <a:r>
              <a:rPr lang="en-US" sz="26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ML не в вакууме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16459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932688" y="1645920"/>
            <a:ext cx="77998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74"/>
              </a:lnSpc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Всё это говорит о том, что машинное обучение делается не в «вакууме».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40080" y="23408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32688" y="2340864"/>
            <a:ext cx="77998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74"/>
              </a:lnSpc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Это совместный процесс, где стоит советоваться с экспертами в предметной области (например, с врачами).</a:t>
            </a:r>
            <a:endParaRPr lang="en-US" sz="1700" dirty="0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0"/>
            <a:ext cx="8229600" cy="514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Оценка качества: регрессия</a:t>
            </a:r>
            <a:endParaRPr lang="en-US" sz="4400" dirty="0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30"/>
              </a:lnSpc>
              <a:buNone/>
            </a:pPr>
            <a:r>
              <a:rPr lang="en-US" sz="26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Оценка регрессии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16459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932688" y="1645920"/>
            <a:ext cx="7799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74"/>
              </a:lnSpc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Теперь обсудим оценку регрессионных моделей.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40080" y="206654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32688" y="2066544"/>
            <a:ext cx="77998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74"/>
              </a:lnSpc>
              <a:buNone/>
            </a:pPr>
            <a:r>
              <a:rPr lang="en-US" sz="17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Регрессия</a:t>
            </a: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это задача предсказания непрерывных значений (в отличие от категориальных, как в классификации).</a:t>
            </a:r>
            <a:endParaRPr lang="en-US" sz="1700" dirty="0"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30"/>
              </a:lnSpc>
              <a:buNone/>
            </a:pPr>
            <a:r>
              <a:rPr lang="en-US" sz="26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Нужны свои метрики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17373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932688" y="1737360"/>
            <a:ext cx="7799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74"/>
              </a:lnSpc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 могли слышать про метрики вроде accuracy или recall.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40080" y="21579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32688" y="2157984"/>
            <a:ext cx="77998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74"/>
              </a:lnSpc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Для регрессии они не подходят: нужны метрики для </a:t>
            </a:r>
            <a:r>
              <a:rPr lang="en-US" sz="17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непрерывных</a:t>
            </a: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значений.</a:t>
            </a:r>
            <a:endParaRPr lang="en-US" sz="1700" dirty="0"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30"/>
              </a:lnSpc>
              <a:buNone/>
            </a:pPr>
            <a:r>
              <a:rPr lang="en-US" sz="26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Регрессия или классификация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17373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932688" y="1737360"/>
            <a:ext cx="7799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74"/>
              </a:lnSpc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Предсказать </a:t>
            </a:r>
            <a:r>
              <a:rPr lang="en-US" sz="17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цену дома</a:t>
            </a: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по его признакам, это задача регрессии.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40080" y="21579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32688" y="2157984"/>
            <a:ext cx="77998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74"/>
              </a:lnSpc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Предсказать </a:t>
            </a:r>
            <a:r>
              <a:rPr lang="en-US" sz="1700" dirty="0">
                <a:solidFill>
                  <a:srgbClr val="C26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страну</a:t>
            </a: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в которой дом находится, это задача классификации.</a:t>
            </a:r>
            <a:endParaRPr lang="en-US" sz="1700" dirty="0"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30"/>
              </a:lnSpc>
              <a:buNone/>
            </a:pPr>
            <a:r>
              <a:rPr lang="en-US" sz="26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Частые метрики регрессии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15544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932688" y="1554480"/>
            <a:ext cx="7799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74"/>
              </a:lnSpc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Разберём самые частые метрики оценки регрессии: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1097280" y="197510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389888" y="1975104"/>
            <a:ext cx="7342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74"/>
              </a:lnSpc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средняя абсолютная ошибка (Mean Absolute Error)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097280" y="23957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389888" y="2395728"/>
            <a:ext cx="7342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74"/>
              </a:lnSpc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средняя квадратичная ошибка (Mean Squared Error)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97280" y="28163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389888" y="2816352"/>
            <a:ext cx="7342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74"/>
              </a:lnSpc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корень из средней квадратичной ошибки (Root Mean Square Error)</a:t>
            </a:r>
            <a:endParaRPr lang="en-US" sz="1700" dirty="0"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30"/>
              </a:lnSpc>
              <a:buNone/>
            </a:pPr>
            <a:r>
              <a:rPr lang="en-US" sz="26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MAE (средняя абсолютная ошибка)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12801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932688" y="1280160"/>
            <a:ext cx="7799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74"/>
              </a:lnSpc>
              <a:buNone/>
            </a:pPr>
            <a:r>
              <a:rPr lang="en-US" sz="17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</a:t>
            </a: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среднее модулей ошибок.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40080" y="17007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32688" y="1700784"/>
            <a:ext cx="7799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74"/>
              </a:lnSpc>
              <a:buNone/>
            </a:pPr>
            <a:r>
              <a:rPr lang="en-US" sz="17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Легко понять</a:t>
            </a: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и интерпретировать.</a:t>
            </a:r>
            <a:endParaRPr lang="en-US" sz="1700" dirty="0"/>
          </a:p>
        </p:txBody>
      </p:sp>
      <p:pic>
        <p:nvPicPr>
          <p:cNvPr id="7" name="Image 0" descr="f_ma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63843" y="2400300"/>
            <a:ext cx="4416314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30"/>
              </a:lnSpc>
              <a:buNone/>
            </a:pPr>
            <a:r>
              <a:rPr lang="en-US" sz="26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MAE не штрафует большие ошибки</a:t>
            </a:r>
            <a:endParaRPr lang="en-US" sz="2600" dirty="0"/>
          </a:p>
        </p:txBody>
      </p:sp>
      <p:pic>
        <p:nvPicPr>
          <p:cNvPr id="3" name="Image 0" descr="mae_outli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1962" y="1417320"/>
            <a:ext cx="3760076" cy="2743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461772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Один сильный выброс почти не влияет на среднее модулей.</a:t>
            </a:r>
            <a:endParaRPr lang="en-US" sz="1300" dirty="0"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30"/>
              </a:lnSpc>
              <a:buNone/>
            </a:pPr>
            <a:r>
              <a:rPr lang="en-US" sz="26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Хотим учитывать большие ошибки</a:t>
            </a:r>
            <a:endParaRPr lang="en-US" sz="2600" dirty="0"/>
          </a:p>
        </p:txBody>
      </p:sp>
      <p:pic>
        <p:nvPicPr>
          <p:cNvPr id="3" name="Image 0" descr="mae_outli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1962" y="1417320"/>
            <a:ext cx="3760076" cy="2743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461772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Нужна метрика, которая сильнее реагирует на крупные промахи.</a:t>
            </a:r>
            <a:endParaRPr lang="en-US" sz="1300" dirty="0"/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30"/>
              </a:lnSpc>
              <a:buNone/>
            </a:pPr>
            <a:r>
              <a:rPr lang="en-US" sz="26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MSE (средняя квадратичная ошибка)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12801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932688" y="1280160"/>
            <a:ext cx="7799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74"/>
              </a:lnSpc>
              <a:buNone/>
            </a:pPr>
            <a:r>
              <a:rPr lang="en-US" sz="17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MSE</a:t>
            </a: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среднее квадратов ошибок.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40080" y="17007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32688" y="1700784"/>
            <a:ext cx="7799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74"/>
              </a:lnSpc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Большие ошибки заметнее, чем в MAE, поэтому MSE популярнее.</a:t>
            </a:r>
            <a:endParaRPr lang="en-US" sz="1700" dirty="0"/>
          </a:p>
        </p:txBody>
      </p:sp>
      <p:pic>
        <p:nvPicPr>
          <p:cNvPr id="7" name="Image 0" descr="f_m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30592" y="2400300"/>
            <a:ext cx="4682816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30"/>
              </a:lnSpc>
              <a:buNone/>
            </a:pPr>
            <a:r>
              <a:rPr lang="en-US" sz="26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RMSE (корень из MSE)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12801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932688" y="1280160"/>
            <a:ext cx="7799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74"/>
              </a:lnSpc>
              <a:buNone/>
            </a:pPr>
            <a:r>
              <a:rPr lang="en-US" sz="17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</a:t>
            </a: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корень из средней квадратичной ошибки.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40080" y="17007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32688" y="1700784"/>
            <a:ext cx="7799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74"/>
              </a:lnSpc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Самая популярная: </a:t>
            </a:r>
            <a:r>
              <a:rPr lang="en-US" sz="1700" dirty="0">
                <a:solidFill>
                  <a:srgbClr val="C26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тех же единицах, что и y</a:t>
            </a: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700" dirty="0"/>
          </a:p>
        </p:txBody>
      </p:sp>
      <p:pic>
        <p:nvPicPr>
          <p:cNvPr id="7" name="Image 0" descr="f_rm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0353" y="2198914"/>
            <a:ext cx="4963294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30"/>
              </a:lnSpc>
              <a:buNone/>
            </a:pPr>
            <a:r>
              <a:rPr lang="en-US" sz="26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«Хорош ли этот RMSE?»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15544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932688" y="1554480"/>
            <a:ext cx="7799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74"/>
              </a:lnSpc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Самый частый вопрос студентов: «Это хорошее значение RMSE?»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40080" y="197510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32688" y="1975104"/>
            <a:ext cx="7799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74"/>
              </a:lnSpc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Контекст решает всё.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40080" y="23957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32688" y="2395728"/>
            <a:ext cx="7799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74"/>
              </a:lnSpc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 в </a:t>
            </a:r>
            <a:r>
              <a:rPr lang="en-US" sz="1700" dirty="0">
                <a:solidFill>
                  <a:srgbClr val="C26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</a:t>
            </a: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это отлично для цены дома, но ужасно для цены шоколадки.</a:t>
            </a:r>
            <a:endParaRPr lang="en-US" sz="1700" dirty="0"/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30"/>
              </a:lnSpc>
              <a:buNone/>
            </a:pPr>
            <a:r>
              <a:rPr lang="en-US" sz="26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 чем сравнивать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17373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932688" y="1737360"/>
            <a:ext cx="77998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74"/>
              </a:lnSpc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Сравнивайте ошибку со </a:t>
            </a:r>
            <a:r>
              <a:rPr lang="en-US" sz="17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средним значением целевой переменной</a:t>
            </a: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в данных, чтобы оценить общее качество.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40080" y="243230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32688" y="2432304"/>
            <a:ext cx="7799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74"/>
              </a:lnSpc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Знание предметной области тоже важно.</a:t>
            </a:r>
            <a:endParaRPr lang="en-US" sz="1700" dirty="0"/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30"/>
              </a:lnSpc>
              <a:buNone/>
            </a:pPr>
            <a:r>
              <a:rPr lang="en-US" sz="26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Важность контекста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17373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932688" y="1737360"/>
            <a:ext cx="7799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74"/>
              </a:lnSpc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Нужно учитывать и цену ошибки.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40080" y="21579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32688" y="2157984"/>
            <a:ext cx="77998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74"/>
              </a:lnSpc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Если модель предсказывает дозу лекарства, даже малые колебания RMSE могут быть очень значимыми.</a:t>
            </a:r>
            <a:endParaRPr lang="en-US" sz="1700" dirty="0"/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30"/>
              </a:lnSpc>
              <a:buNone/>
            </a:pPr>
            <a:r>
              <a:rPr lang="en-US" sz="26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Итог по регрессии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2011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932688" y="2011680"/>
            <a:ext cx="77998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74"/>
              </a:lnSpc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Теперь вы уверенно владеете основными способами оценки регрессионной задачи.</a:t>
            </a:r>
            <a:endParaRPr lang="en-US" sz="1700" dirty="0"/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0"/>
            <a:ext cx="8229600" cy="514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Обучение без учителя</a:t>
            </a:r>
            <a:endParaRPr lang="en-US" sz="4400" dirty="0"/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30"/>
              </a:lnSpc>
              <a:buNone/>
            </a:pPr>
            <a:r>
              <a:rPr lang="en-US" sz="26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А если меток нет?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17373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932688" y="1737360"/>
            <a:ext cx="77998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74"/>
              </a:lnSpc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Мы разобрали обучение с учителем, где метка была </a:t>
            </a:r>
            <a:r>
              <a:rPr lang="en-US" sz="17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известна</a:t>
            </a: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из исторических размеченных данных.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40080" y="243230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32688" y="2432304"/>
            <a:ext cx="7799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74"/>
              </a:lnSpc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 что делать, когда исторических меток нет?</a:t>
            </a:r>
            <a:endParaRPr lang="en-US" sz="1700" dirty="0"/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30"/>
              </a:lnSpc>
              <a:buNone/>
            </a:pPr>
            <a:r>
              <a:rPr lang="en-US" sz="26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Задачи без учителя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15544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932688" y="1554480"/>
            <a:ext cx="7799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74"/>
              </a:lnSpc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 обучению без учителя относятся такие задачи: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1097280" y="197510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389888" y="1975104"/>
            <a:ext cx="7342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74"/>
              </a:lnSpc>
              <a:buNone/>
            </a:pPr>
            <a:r>
              <a:rPr lang="en-US" sz="17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Кластеризация (clustering)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097280" y="23957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389888" y="2395728"/>
            <a:ext cx="7342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74"/>
              </a:lnSpc>
              <a:buNone/>
            </a:pPr>
            <a:r>
              <a:rPr lang="en-US" sz="17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Поиск аномалий (anomaly detection)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97280" y="28163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389888" y="2816352"/>
            <a:ext cx="7342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74"/>
              </a:lnSpc>
              <a:buNone/>
            </a:pPr>
            <a:r>
              <a:rPr lang="en-US" sz="17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Снижение размерности (dimensionality reduction)</a:t>
            </a:r>
            <a:endParaRPr lang="en-US" sz="1700" dirty="0"/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30"/>
              </a:lnSpc>
              <a:buNone/>
            </a:pPr>
            <a:r>
              <a:rPr lang="en-US" sz="26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Кластеризация (clustering)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17373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932688" y="1737360"/>
            <a:ext cx="7799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74"/>
              </a:lnSpc>
              <a:buNone/>
            </a:pPr>
            <a:r>
              <a:rPr lang="en-US" sz="17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Кластеризация</a:t>
            </a: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группировка </a:t>
            </a:r>
            <a:r>
              <a:rPr lang="en-US" sz="1700" dirty="0">
                <a:solidFill>
                  <a:srgbClr val="C26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неразмеченных</a:t>
            </a: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точек в категории/кластеры.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40080" y="21579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32688" y="2157984"/>
            <a:ext cx="7799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74"/>
              </a:lnSpc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Точки относят к кластеру по схожести.</a:t>
            </a:r>
            <a:endParaRPr lang="en-US" sz="1700" dirty="0"/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30"/>
              </a:lnSpc>
              <a:buNone/>
            </a:pPr>
            <a:r>
              <a:rPr lang="en-US" sz="26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Поиск аномалий (anomaly detection)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17373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932688" y="1737360"/>
            <a:ext cx="7799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74"/>
              </a:lnSpc>
              <a:buNone/>
            </a:pPr>
            <a:r>
              <a:rPr lang="en-US" sz="17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Поиск аномалий</a:t>
            </a: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попытка обнаружить выбросы в данных.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40080" y="21579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32688" y="2157984"/>
            <a:ext cx="7799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74"/>
              </a:lnSpc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Например, мошеннические транзакции по карте.</a:t>
            </a:r>
            <a:endParaRPr lang="en-US" sz="1700" dirty="0"/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30"/>
              </a:lnSpc>
              <a:buNone/>
            </a:pPr>
            <a:r>
              <a:rPr lang="en-US" sz="26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Снижение размерности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17373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932688" y="1737360"/>
            <a:ext cx="77998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74"/>
              </a:lnSpc>
              <a:buNone/>
            </a:pPr>
            <a:r>
              <a:rPr lang="en-US" sz="17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Снижение размерности (dimensionality reduction)</a:t>
            </a: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методы обработки, которые уменьшают число признаков, 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1097280" y="243230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389888" y="2432304"/>
            <a:ext cx="73426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74"/>
              </a:lnSpc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для сжатия или чтобы лучше понять внутренние закономерности данных.</a:t>
            </a:r>
            <a:endParaRPr lang="en-US" sz="1700" dirty="0"/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30"/>
              </a:lnSpc>
              <a:buNone/>
            </a:pPr>
            <a:r>
              <a:rPr lang="en-US" sz="26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Обучение без учителя: важно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17373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932688" y="1737360"/>
            <a:ext cx="77998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74"/>
              </a:lnSpc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Важно: это ситуации, где у нас </a:t>
            </a:r>
            <a:r>
              <a:rPr lang="en-US" sz="1700" dirty="0">
                <a:solidFill>
                  <a:srgbClr val="C26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нет верного ответа</a:t>
            </a: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для исторических данных.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40080" y="243230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32688" y="2432304"/>
            <a:ext cx="7799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74"/>
              </a:lnSpc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 значит, оценка качества заметно сложнее и тоньше.</a:t>
            </a:r>
            <a:endParaRPr lang="en-US" sz="1700" dirty="0"/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30"/>
              </a:lnSpc>
              <a:buNone/>
            </a:pPr>
            <a:r>
              <a:rPr lang="en-US" sz="26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Процесс обучения без учителя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11480" y="2377440"/>
            <a:ext cx="1417320" cy="731520"/>
          </a:xfrm>
          <a:prstGeom prst="roundRect">
            <a:avLst>
              <a:gd name="adj" fmla="val 7500"/>
            </a:avLst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KZ"/>
          </a:p>
        </p:txBody>
      </p:sp>
      <p:sp>
        <p:nvSpPr>
          <p:cNvPr id="4" name="Text 2"/>
          <p:cNvSpPr/>
          <p:nvPr/>
        </p:nvSpPr>
        <p:spPr>
          <a:xfrm>
            <a:off x="448056" y="2377440"/>
            <a:ext cx="13441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Сбор</a:t>
            </a:r>
            <a:endParaRPr lang="en-US" sz="1150" dirty="0"/>
          </a:p>
          <a:p>
            <a:pPr marL="0" indent="0" algn="ctr">
              <a:lnSpc>
                <a:spcPts val="13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данных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1993392" y="2377440"/>
            <a:ext cx="1417320" cy="731520"/>
          </a:xfrm>
          <a:prstGeom prst="roundRect">
            <a:avLst>
              <a:gd name="adj" fmla="val 7500"/>
            </a:avLst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KZ"/>
          </a:p>
        </p:txBody>
      </p:sp>
      <p:sp>
        <p:nvSpPr>
          <p:cNvPr id="6" name="Text 4"/>
          <p:cNvSpPr/>
          <p:nvPr/>
        </p:nvSpPr>
        <p:spPr>
          <a:xfrm>
            <a:off x="2029968" y="2377440"/>
            <a:ext cx="13441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Очистка</a:t>
            </a:r>
            <a:endParaRPr lang="en-US" sz="1150" dirty="0"/>
          </a:p>
          <a:p>
            <a:pPr marL="0" indent="0" algn="ctr">
              <a:lnSpc>
                <a:spcPts val="13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данных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1847088" y="2743200"/>
            <a:ext cx="128016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  <p:txBody>
          <a:bodyPr/>
          <a:lstStyle/>
          <a:p>
            <a:endParaRPr lang="en-KZ"/>
          </a:p>
        </p:txBody>
      </p:sp>
      <p:sp>
        <p:nvSpPr>
          <p:cNvPr id="8" name="Shape 6"/>
          <p:cNvSpPr/>
          <p:nvPr/>
        </p:nvSpPr>
        <p:spPr>
          <a:xfrm>
            <a:off x="3575304" y="2377440"/>
            <a:ext cx="1417320" cy="731520"/>
          </a:xfrm>
          <a:prstGeom prst="roundRect">
            <a:avLst>
              <a:gd name="adj" fmla="val 7500"/>
            </a:avLst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KZ"/>
          </a:p>
        </p:txBody>
      </p:sp>
      <p:sp>
        <p:nvSpPr>
          <p:cNvPr id="9" name="Text 7"/>
          <p:cNvSpPr/>
          <p:nvPr/>
        </p:nvSpPr>
        <p:spPr>
          <a:xfrm>
            <a:off x="3611880" y="2377440"/>
            <a:ext cx="13441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Обучение</a:t>
            </a:r>
            <a:endParaRPr lang="en-US" sz="1150" dirty="0"/>
          </a:p>
          <a:p>
            <a:pPr marL="0" indent="0" algn="ctr">
              <a:lnSpc>
                <a:spcPts val="13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модели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429000" y="2743200"/>
            <a:ext cx="128016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  <p:txBody>
          <a:bodyPr/>
          <a:lstStyle/>
          <a:p>
            <a:endParaRPr lang="en-KZ"/>
          </a:p>
        </p:txBody>
      </p:sp>
      <p:sp>
        <p:nvSpPr>
          <p:cNvPr id="11" name="Shape 9"/>
          <p:cNvSpPr/>
          <p:nvPr/>
        </p:nvSpPr>
        <p:spPr>
          <a:xfrm>
            <a:off x="5157216" y="2377440"/>
            <a:ext cx="1417320" cy="731520"/>
          </a:xfrm>
          <a:prstGeom prst="roundRect">
            <a:avLst>
              <a:gd name="adj" fmla="val 7500"/>
            </a:avLst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KZ"/>
          </a:p>
        </p:txBody>
      </p:sp>
      <p:sp>
        <p:nvSpPr>
          <p:cNvPr id="12" name="Text 10"/>
          <p:cNvSpPr/>
          <p:nvPr/>
        </p:nvSpPr>
        <p:spPr>
          <a:xfrm>
            <a:off x="5193792" y="2377440"/>
            <a:ext cx="13441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Преобразование</a:t>
            </a:r>
            <a:endParaRPr lang="en-US" sz="1150" dirty="0"/>
          </a:p>
          <a:p>
            <a:pPr marL="0" indent="0" algn="ctr">
              <a:lnSpc>
                <a:spcPts val="13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(transformation)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010912" y="2743200"/>
            <a:ext cx="128016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  <p:txBody>
          <a:bodyPr/>
          <a:lstStyle/>
          <a:p>
            <a:endParaRPr lang="en-KZ"/>
          </a:p>
        </p:txBody>
      </p:sp>
      <p:sp>
        <p:nvSpPr>
          <p:cNvPr id="14" name="Shape 12"/>
          <p:cNvSpPr/>
          <p:nvPr/>
        </p:nvSpPr>
        <p:spPr>
          <a:xfrm>
            <a:off x="6739128" y="2377440"/>
            <a:ext cx="1417320" cy="731520"/>
          </a:xfrm>
          <a:prstGeom prst="roundRect">
            <a:avLst>
              <a:gd name="adj" fmla="val 7500"/>
            </a:avLst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KZ"/>
          </a:p>
        </p:txBody>
      </p:sp>
      <p:sp>
        <p:nvSpPr>
          <p:cNvPr id="15" name="Text 13"/>
          <p:cNvSpPr/>
          <p:nvPr/>
        </p:nvSpPr>
        <p:spPr>
          <a:xfrm>
            <a:off x="6775704" y="2377440"/>
            <a:ext cx="13441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Внедрение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592824" y="2743200"/>
            <a:ext cx="128016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  <p:txBody>
          <a:bodyPr/>
          <a:lstStyle/>
          <a:p>
            <a:endParaRPr lang="en-KZ"/>
          </a:p>
        </p:txBody>
      </p:sp>
      <p:sp>
        <p:nvSpPr>
          <p:cNvPr id="17" name="Text 15"/>
          <p:cNvSpPr/>
          <p:nvPr/>
        </p:nvSpPr>
        <p:spPr>
          <a:xfrm>
            <a:off x="640080" y="44348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Здесь нет отдельного отложенного теста: верных меток у исторических данных нет.</a:t>
            </a:r>
            <a:endParaRPr lang="en-US" sz="1500" dirty="0"/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30"/>
              </a:lnSpc>
              <a:buNone/>
            </a:pPr>
            <a:r>
              <a:rPr lang="en-US" sz="26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Что дальше в курсе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1828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932688" y="1828800"/>
            <a:ext cx="77998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74"/>
              </a:lnSpc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Позже в курсе мы разберём процессы обучения без учителя со специализированными нейросетевыми архитектурами, например </a:t>
            </a:r>
            <a:r>
              <a:rPr lang="en-US" sz="17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автоэнкодерами (autoencoders)</a:t>
            </a: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3082</Words>
  <Application>Microsoft Macintosh PowerPoint</Application>
  <PresentationFormat>On-screen Show (16:9)</PresentationFormat>
  <Paragraphs>716</Paragraphs>
  <Slides>106</Slides>
  <Notes>106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106</vt:i4>
      </vt:variant>
    </vt:vector>
  </HeadingPairs>
  <TitlesOfParts>
    <vt:vector size="110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Kuanysh S. Abeshev</cp:lastModifiedBy>
  <cp:revision>2</cp:revision>
  <dcterms:created xsi:type="dcterms:W3CDTF">2026-06-22T18:55:18Z</dcterms:created>
  <dcterms:modified xsi:type="dcterms:W3CDTF">2026-06-23T04:55:47Z</dcterms:modified>
</cp:coreProperties>
</file>